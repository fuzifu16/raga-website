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5F7"/>
    <a:srgbClr val="23BE8B"/>
    <a:srgbClr val="F1F9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54" autoAdjust="0"/>
    <p:restoredTop sz="93204" autoAdjust="0"/>
  </p:normalViewPr>
  <p:slideViewPr>
    <p:cSldViewPr snapToGrid="0">
      <p:cViewPr varScale="1">
        <p:scale>
          <a:sx n="103" d="100"/>
          <a:sy n="103" d="100"/>
        </p:scale>
        <p:origin x="966" y="10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13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大家好，欢迎参加本次关于RAⅢ系列智能型电动执行机构的培训。本次培训将全面覆盖该产品的选型、安装、使用及维护的全过程。RAⅢ系列作为新一代智能执行机构，代表了行业的先进技术，我们将通过这次学习，帮助大家深入了解其卓越性能和应用方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培训将分为八个部分。首先，我们将对产品进行概述；接着深入探讨其核心技术与工作原理；然后详细介绍其功能特点和选型方法；之后是关键的安装调试和操作维护环节；特别地，我们新增了应用案例章节，展示产品的实际表现；最后是控制接线和订货说明。希望通过这个结构，能让大家系统地掌握RAⅢ系列的全部知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首先我们来了解一下RAⅢ系列产品。它是一款智能型多回转电动执行机构，最大的特点是“非侵入式”设计，所有操作都通过红外设定器完成，无需开盖，这极大地提升了在恶劣环境下的安全性和便利性。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同时，它具备IP68顶级防护、绝对编码器、电动优先手动切换等一系列核心优势，是工业自动化控制领域的理想选择。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RAⅢ系列的应用场景非常广泛。在石油化工行业，它是管道和装置的控制核心；在电力行业，无论是火电还是核电，都能看到它的身影，保障着能源的稳定供应；在环境恶劣的冶金行业，它同样表现出色；而在水处理领域，它则是保障城市水务系统正常运行的关键设备。可以说，只要有阀门需要精确控制的地方，就有RAⅢ系列的用武之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看一下RAⅢ系列的核心技术指标。这些参数定义了产品的性能边界。例如，它支持多种输入信号，供电灵活；控制精度非常高，基本误差限小于1%；防护等级达到了IP68的顶级标准，并且具备ExdⅡCT4的防爆认证，能够在各种恶劣甚至危险的环境中稳定工作。这些指标共同构成了产品的强大性能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技术指标，我们再深入看看它的工作原理和结构。电动驱动时，动力通过多级传动最终到达输出轴，同时绝对编码器实时反馈位置。手动操作时，只需切换手柄即可。特别值得一提的是“电动优先”设计，确保了操作安全。在结构上，双密封、非侵入式旋钮、油浴润滑等设计，都体现了产品的高可靠性和长寿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RAⅢ系列最强大的特性之一就是其全方位的保护机制。它不仅能保护自身，还能保护阀门。从可设定的转矩保护，到自动相序调整、缺相保护，再到针对特殊工况的阀门解卡和电子闩锁功能，每一项设计都旨在确保设备在各种复杂情况下的安全、稳定运行。这些功能极大地降低了设备故障率和维护成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智能控制方面，RAⅢ系列提供了从基础到高级的完整解决方案。无论您需要简单的远程开关，还是精确的模拟量调节，或是融入工厂的数字化总线系统，它都能满足。同时，针对水锤效应、紧急停车等特殊工况，它也提供了专门的功能。更重要的是，它具备强大的物联网扩展能力，为未来的智能化工厂升级做好了准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正确选型是确保设备正常运行的第一步。我们需要重点关注五个核心要素：转矩、速度、法兰连接、阀杆参数和推力。同时，也要注意产品的工作制式，RAⅢ系列是间歇工作型，如果工况要求频繁启停，我们推荐其他系列。对于角行程阀门，需要搭配相应的蜗轮箱使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这张表格列出了RAⅢ系列主机的核心性能参数。大家可以根据刚才提到的选型要素，特别是转矩和转速要求，来查找对应的型号。表格清晰地展示了不同型号的额定转矩范围、输出转速、电机功率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、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额定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电流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和连接法兰规格，是选型时的重要参考依据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除了主机性能，机械接口参数同样关键。这张表列出了不同型号允许的最大阀杆直径，以及设备净重。在选择时，必须确保阀门的阀杆尺寸在执行机构的允许范围内。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另外，要特别注意连接类型的选择：推力型用于明杆阀，非推力型用于暗杆阀或带齿轮箱的阀门，选错会影响设备性能甚至造成损坏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选型完成后，就进入安装环节。安装的关键在于驱动套的预制加工和阀门主体的正确安装。无论是推力型还是非推力型，都需要根据阀门的具体情况进行加工。安装时要确保法兰贴合紧密，螺栓紧固。特别强调三点：手轮的密封、可靠的接地以及显示屏方向的设置，这些细节直接关系到设备的长期稳定运行和操作便利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安装完成后，我们需要使用红外设定器进行调试。请确保在操作前，方式旋钮处于停止或就地位。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这里列出了一些核心的出厂默认值，比如关闭方向为顺时针，过矩保护值分别为额定转矩的60%和80%。这些默认值在大多数情况下可以直接使用，但如果工况特殊，就需要我们进行调整。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调试分为一级设定和二级设定。一级设定是基础运行参数，是必须调整的，包括关闭方向、行程极限和过矩值。这些参数直接关系到阀门能否正确运行。二级设定则是控制逻辑参数，根据实际控制需求进行配置，比如状态输出、控制模式、反馈电流校准等。通过这两级设定，我们可以将执行机构精确地配置到最佳工作状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设备调试完成后，我们来了解它的三种操作方式。手动操作主要用于紧急情况。就地操作是在设备旁进行控制，有点动和保持两种模式。远程控制则是通过外部信号进行操作，包括远程开关、模拟量调节和总线控制，这是实现自动化控制的核心方式。熟练掌握这三种操作方式，才能灵活应对各种工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定期的维护保养是延长设备寿命的关键。最主要的维护工作是润滑油的管理，首次运行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一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年需要更换，之后每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两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年更换一次。此外，运行半年后要紧固所有螺栓和端子。得益于良好的密封设计，其他部分基本免维护。平时只需定期检查密封、接地和各项功能是否正常即可。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尽管RAⅢ系列可靠性很高，但了解常见故障的处理方法依然很重要。这张表格列出了几种高频故障现象、可能的原因以及快速排除方法。例如，电源缺相报警，我们首先要检查外部供电，再逐步排查内部元件。掌握这些基本的故障排查思路，可以大大缩短维修时间，减少生产损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接下来，我们进入新增的应用案例章节。首先是电力行业，这是RAⅢ系列应用最广泛的领域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在火电方面，我们为浙能、大唐等大型发电集团提供了近20万台设备，稳定运行在各大电厂的锅炉、脱硫等关键系统中，显著降低了设备故障率。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在要求更为严苛的核电领域，我们的产品凭借IP68高防护等级和抗强电磁干扰的特性，也成功应用于巴基斯坦卡拉奇、山东石岛湾等国内外多个核电项目，充分证明了其卓越的可靠性和安全性。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在石油化工行业，安全和稳定是首要要求。我们的产品作为中石油、中石化的网络供应商，广泛应用于从油田井口到长输管道的各个环节。其防爆设计确保了在易燃易爆环境中的安全。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在炼化装置中，如中石化湖南石化的项目，RAⅢ系列保证了核心工艺的连续生产，为客户创造了巨大价值。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冶金行业的环境非常恶劣，对设备的要求极高。我们的客户名单足以证明产品的实力，包括首钢、沙钢等顶级钢铁企业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 dirty="0">
                <a:solidFill>
                  <a:srgbClr val="000000"/>
                </a:solidFill>
              </a:rPr>
              <a:t>RAⅢ系列应用于高炉、转炉、轧钢等核心生产环节，其耐高温、防尘、抗振动的特性，以及智能化的诊断功能，确保了生产的顺行，并显著降低了维护成本。</a:t>
            </a:r>
          </a:p>
          <a:p>
            <a:pPr indent="0" algn="l">
              <a:lnSpc>
                <a:spcPct val="108333"/>
              </a:lnSpc>
              <a:defRPr/>
            </a:pPr>
            <a:endParaRPr lang="en-US" altLang="zh-CN" sz="1400" b="1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水处理行业。无论是市政供水还是污水处理，稳定运行至关重要。RAⅢ系列的高防护等级和防腐设计，使其能适应户外潮湿甚至腐蚀性的环境。在液位控制、流量调节等典型场景中表现出色，是保障城市“水脉”安全运行的重要设备，在国内市政项目中布局较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应用案例，我们回到技术部分，看一下控制与接线规范。这张表是核心端子的定义，涵盖了动力电源、远程控制、状态输出、模拟量输入输出、ESD和联锁等所有关键信号。正确的接线是设备正常运行的基础，请大家务必对照接线图进行操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控制模式方面，我们支持多种灵活的配置。远程开关量控制可以适应不同的外部电源。模拟量比例控制允许用户自定义死区、丢信动作等参数，以适应不同的调节需求。现场总线控制则提供了与主流工业网络的无缝集成能力。此外，ESD和联锁等安全功能的接线也非常灵活，能满足各种高安全要求的工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订货说明。我们的型号命名规则非常清晰，每一位都代表了特定的参数。大家可以通过这个规则快速了解产品配置。在订货时，请务必提供完整的型号、接线图号，以及配套蜗轮箱的信息和其他可选功能需求，这样我们才能为您提供完全符合要求的产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培训到此结束，感谢大家的聆听。我们致力于成为专业的智能执行机构解决方案服务商，为您提供高质量的产品和服务。如果在使用过程中有任何问题，欢迎随时通过屏幕上的联系方式与我们联系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svg"/><Relationship Id="rId4" Type="http://schemas.openxmlformats.org/officeDocument/2006/relationships/image" Target="../media/image4.jpe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svg"/><Relationship Id="rId18" Type="http://schemas.openxmlformats.org/officeDocument/2006/relationships/image" Target="../media/image22.png"/><Relationship Id="rId3" Type="http://schemas.openxmlformats.org/officeDocument/2006/relationships/image" Target="../media/image3.jpeg"/><Relationship Id="rId21" Type="http://schemas.openxmlformats.org/officeDocument/2006/relationships/image" Target="../media/image39.svg"/><Relationship Id="rId7" Type="http://schemas.openxmlformats.org/officeDocument/2006/relationships/image" Target="../media/image27.svg"/><Relationship Id="rId12" Type="http://schemas.openxmlformats.org/officeDocument/2006/relationships/image" Target="../media/image32.png"/><Relationship Id="rId17" Type="http://schemas.openxmlformats.org/officeDocument/2006/relationships/image" Target="../media/image37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6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11" Type="http://schemas.openxmlformats.org/officeDocument/2006/relationships/image" Target="../media/image31.svg"/><Relationship Id="rId5" Type="http://schemas.openxmlformats.org/officeDocument/2006/relationships/image" Target="../media/image25.svg"/><Relationship Id="rId15" Type="http://schemas.openxmlformats.org/officeDocument/2006/relationships/image" Target="../media/image35.svg"/><Relationship Id="rId10" Type="http://schemas.openxmlformats.org/officeDocument/2006/relationships/image" Target="../media/image30.png"/><Relationship Id="rId19" Type="http://schemas.openxmlformats.org/officeDocument/2006/relationships/image" Target="../media/image23.svg"/><Relationship Id="rId4" Type="http://schemas.openxmlformats.org/officeDocument/2006/relationships/image" Target="../media/image24.png"/><Relationship Id="rId9" Type="http://schemas.openxmlformats.org/officeDocument/2006/relationships/image" Target="../media/image29.svg"/><Relationship Id="rId14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8.svg"/><Relationship Id="rId18" Type="http://schemas.openxmlformats.org/officeDocument/2006/relationships/image" Target="../media/image50.png"/><Relationship Id="rId3" Type="http://schemas.openxmlformats.org/officeDocument/2006/relationships/image" Target="../media/image3.jpeg"/><Relationship Id="rId7" Type="http://schemas.openxmlformats.org/officeDocument/2006/relationships/image" Target="../media/image43.svg"/><Relationship Id="rId12" Type="http://schemas.openxmlformats.org/officeDocument/2006/relationships/image" Target="../media/image7.png"/><Relationship Id="rId17" Type="http://schemas.openxmlformats.org/officeDocument/2006/relationships/image" Target="../media/image49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11" Type="http://schemas.openxmlformats.org/officeDocument/2006/relationships/image" Target="../media/image6.svg"/><Relationship Id="rId5" Type="http://schemas.openxmlformats.org/officeDocument/2006/relationships/image" Target="../media/image41.svg"/><Relationship Id="rId15" Type="http://schemas.openxmlformats.org/officeDocument/2006/relationships/image" Target="../media/image47.svg"/><Relationship Id="rId10" Type="http://schemas.openxmlformats.org/officeDocument/2006/relationships/image" Target="../media/image5.png"/><Relationship Id="rId4" Type="http://schemas.openxmlformats.org/officeDocument/2006/relationships/image" Target="../media/image40.png"/><Relationship Id="rId9" Type="http://schemas.openxmlformats.org/officeDocument/2006/relationships/image" Target="../media/image45.svg"/><Relationship Id="rId14" Type="http://schemas.openxmlformats.org/officeDocument/2006/relationships/image" Target="../media/image4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svg"/><Relationship Id="rId18" Type="http://schemas.openxmlformats.org/officeDocument/2006/relationships/image" Target="../media/image63.png"/><Relationship Id="rId3" Type="http://schemas.openxmlformats.org/officeDocument/2006/relationships/image" Target="../media/image3.jpeg"/><Relationship Id="rId7" Type="http://schemas.openxmlformats.org/officeDocument/2006/relationships/image" Target="../media/image52.svg"/><Relationship Id="rId12" Type="http://schemas.openxmlformats.org/officeDocument/2006/relationships/image" Target="../media/image57.png"/><Relationship Id="rId17" Type="http://schemas.openxmlformats.org/officeDocument/2006/relationships/image" Target="../media/image62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6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.png"/><Relationship Id="rId11" Type="http://schemas.openxmlformats.org/officeDocument/2006/relationships/image" Target="../media/image56.svg"/><Relationship Id="rId5" Type="http://schemas.openxmlformats.org/officeDocument/2006/relationships/image" Target="../media/image6.svg"/><Relationship Id="rId15" Type="http://schemas.openxmlformats.org/officeDocument/2006/relationships/image" Target="../media/image60.svg"/><Relationship Id="rId10" Type="http://schemas.openxmlformats.org/officeDocument/2006/relationships/image" Target="../media/image55.png"/><Relationship Id="rId19" Type="http://schemas.openxmlformats.org/officeDocument/2006/relationships/image" Target="../media/image64.svg"/><Relationship Id="rId4" Type="http://schemas.openxmlformats.org/officeDocument/2006/relationships/image" Target="../media/image5.png"/><Relationship Id="rId9" Type="http://schemas.openxmlformats.org/officeDocument/2006/relationships/image" Target="../media/image54.svg"/><Relationship Id="rId14" Type="http://schemas.openxmlformats.org/officeDocument/2006/relationships/image" Target="../media/image5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3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Relationship Id="rId9" Type="http://schemas.openxmlformats.org/officeDocument/2006/relationships/image" Target="../media/image6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svg"/><Relationship Id="rId3" Type="http://schemas.openxmlformats.org/officeDocument/2006/relationships/image" Target="../media/image3.jpeg"/><Relationship Id="rId7" Type="http://schemas.openxmlformats.org/officeDocument/2006/relationships/image" Target="../media/image70.svg"/><Relationship Id="rId12" Type="http://schemas.openxmlformats.org/officeDocument/2006/relationships/image" Target="../media/image75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7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9.png"/><Relationship Id="rId11" Type="http://schemas.openxmlformats.org/officeDocument/2006/relationships/image" Target="../media/image74.svg"/><Relationship Id="rId5" Type="http://schemas.openxmlformats.org/officeDocument/2006/relationships/image" Target="../media/image68.svg"/><Relationship Id="rId15" Type="http://schemas.openxmlformats.org/officeDocument/2006/relationships/image" Target="../media/image78.sv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svg"/><Relationship Id="rId14" Type="http://schemas.openxmlformats.org/officeDocument/2006/relationships/image" Target="../media/image7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7.svg"/><Relationship Id="rId3" Type="http://schemas.openxmlformats.org/officeDocument/2006/relationships/image" Target="../media/image3.jpeg"/><Relationship Id="rId7" Type="http://schemas.openxmlformats.org/officeDocument/2006/relationships/image" Target="../media/image70.svg"/><Relationship Id="rId12" Type="http://schemas.openxmlformats.org/officeDocument/2006/relationships/image" Target="../media/image8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9.png"/><Relationship Id="rId11" Type="http://schemas.openxmlformats.org/officeDocument/2006/relationships/image" Target="../media/image85.svg"/><Relationship Id="rId5" Type="http://schemas.openxmlformats.org/officeDocument/2006/relationships/image" Target="../media/image81.svg"/><Relationship Id="rId10" Type="http://schemas.openxmlformats.org/officeDocument/2006/relationships/image" Target="../media/image84.png"/><Relationship Id="rId4" Type="http://schemas.openxmlformats.org/officeDocument/2006/relationships/image" Target="../media/image80.png"/><Relationship Id="rId9" Type="http://schemas.openxmlformats.org/officeDocument/2006/relationships/image" Target="../media/image8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4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5" Type="http://schemas.openxmlformats.org/officeDocument/2006/relationships/image" Target="../media/image74.svg"/><Relationship Id="rId4" Type="http://schemas.openxmlformats.org/officeDocument/2006/relationships/image" Target="../media/image7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.jpeg"/><Relationship Id="rId7" Type="http://schemas.openxmlformats.org/officeDocument/2006/relationships/image" Target="../media/image54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3.png"/><Relationship Id="rId11" Type="http://schemas.openxmlformats.org/officeDocument/2006/relationships/image" Target="../media/image89.jpeg"/><Relationship Id="rId5" Type="http://schemas.openxmlformats.org/officeDocument/2006/relationships/image" Target="../media/image60.svg"/><Relationship Id="rId10" Type="http://schemas.openxmlformats.org/officeDocument/2006/relationships/image" Target="../media/image88.jpeg"/><Relationship Id="rId4" Type="http://schemas.openxmlformats.org/officeDocument/2006/relationships/image" Target="../media/image59.png"/><Relationship Id="rId9" Type="http://schemas.openxmlformats.org/officeDocument/2006/relationships/image" Target="../media/image45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jpeg"/><Relationship Id="rId7" Type="http://schemas.openxmlformats.org/officeDocument/2006/relationships/image" Target="../media/image91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0.png"/><Relationship Id="rId5" Type="http://schemas.openxmlformats.org/officeDocument/2006/relationships/image" Target="../media/image43.svg"/><Relationship Id="rId4" Type="http://schemas.openxmlformats.org/officeDocument/2006/relationships/image" Target="../media/image42.png"/><Relationship Id="rId9" Type="http://schemas.openxmlformats.org/officeDocument/2006/relationships/image" Target="../media/image9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85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4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3.jpeg"/><Relationship Id="rId7" Type="http://schemas.openxmlformats.org/officeDocument/2006/relationships/image" Target="../media/image96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5.png"/><Relationship Id="rId5" Type="http://schemas.openxmlformats.org/officeDocument/2006/relationships/image" Target="../media/image94.svg"/><Relationship Id="rId4" Type="http://schemas.openxmlformats.org/officeDocument/2006/relationships/image" Target="../media/image93.png"/><Relationship Id="rId9" Type="http://schemas.openxmlformats.org/officeDocument/2006/relationships/image" Target="../media/image98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3.jpeg"/><Relationship Id="rId7" Type="http://schemas.openxmlformats.org/officeDocument/2006/relationships/image" Target="../media/image48.png"/><Relationship Id="rId12" Type="http://schemas.openxmlformats.org/officeDocument/2006/relationships/image" Target="../media/image103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0.svg"/><Relationship Id="rId11" Type="http://schemas.openxmlformats.org/officeDocument/2006/relationships/image" Target="../media/image102.png"/><Relationship Id="rId5" Type="http://schemas.openxmlformats.org/officeDocument/2006/relationships/image" Target="../media/image59.png"/><Relationship Id="rId10" Type="http://schemas.openxmlformats.org/officeDocument/2006/relationships/image" Target="../media/image101.svg"/><Relationship Id="rId4" Type="http://schemas.openxmlformats.org/officeDocument/2006/relationships/image" Target="../media/image99.jpeg"/><Relationship Id="rId9" Type="http://schemas.openxmlformats.org/officeDocument/2006/relationships/image" Target="../media/image10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svg"/><Relationship Id="rId13" Type="http://schemas.openxmlformats.org/officeDocument/2006/relationships/image" Target="../media/image113.svg"/><Relationship Id="rId3" Type="http://schemas.openxmlformats.org/officeDocument/2006/relationships/image" Target="../media/image3.jpeg"/><Relationship Id="rId7" Type="http://schemas.openxmlformats.org/officeDocument/2006/relationships/image" Target="../media/image107.png"/><Relationship Id="rId12" Type="http://schemas.openxmlformats.org/officeDocument/2006/relationships/image" Target="../media/image1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6.svg"/><Relationship Id="rId11" Type="http://schemas.openxmlformats.org/officeDocument/2006/relationships/image" Target="../media/image111.svg"/><Relationship Id="rId5" Type="http://schemas.openxmlformats.org/officeDocument/2006/relationships/image" Target="../media/image105.png"/><Relationship Id="rId10" Type="http://schemas.openxmlformats.org/officeDocument/2006/relationships/image" Target="../media/image110.png"/><Relationship Id="rId4" Type="http://schemas.openxmlformats.org/officeDocument/2006/relationships/image" Target="../media/image104.jpeg"/><Relationship Id="rId9" Type="http://schemas.openxmlformats.org/officeDocument/2006/relationships/image" Target="../media/image109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13" Type="http://schemas.openxmlformats.org/officeDocument/2006/relationships/image" Target="../media/image119.svg"/><Relationship Id="rId3" Type="http://schemas.openxmlformats.org/officeDocument/2006/relationships/image" Target="../media/image3.jpeg"/><Relationship Id="rId7" Type="http://schemas.openxmlformats.org/officeDocument/2006/relationships/image" Target="../media/image44.png"/><Relationship Id="rId12" Type="http://schemas.openxmlformats.org/officeDocument/2006/relationships/image" Target="../media/image1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6.svg"/><Relationship Id="rId11" Type="http://schemas.openxmlformats.org/officeDocument/2006/relationships/image" Target="../media/image106.svg"/><Relationship Id="rId5" Type="http://schemas.openxmlformats.org/officeDocument/2006/relationships/image" Target="../media/image115.png"/><Relationship Id="rId10" Type="http://schemas.openxmlformats.org/officeDocument/2006/relationships/image" Target="../media/image105.png"/><Relationship Id="rId4" Type="http://schemas.openxmlformats.org/officeDocument/2006/relationships/image" Target="../media/image114.jpeg"/><Relationship Id="rId9" Type="http://schemas.openxmlformats.org/officeDocument/2006/relationships/image" Target="../media/image117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.jpeg"/><Relationship Id="rId7" Type="http://schemas.openxmlformats.org/officeDocument/2006/relationships/image" Target="../media/image45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png"/><Relationship Id="rId5" Type="http://schemas.openxmlformats.org/officeDocument/2006/relationships/image" Target="../media/image121.jpeg"/><Relationship Id="rId4" Type="http://schemas.openxmlformats.org/officeDocument/2006/relationships/image" Target="../media/image120.jpeg"/><Relationship Id="rId9" Type="http://schemas.openxmlformats.org/officeDocument/2006/relationships/image" Target="../media/image43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6.svg"/><Relationship Id="rId3" Type="http://schemas.openxmlformats.org/officeDocument/2006/relationships/image" Target="../media/image3.jpeg"/><Relationship Id="rId7" Type="http://schemas.openxmlformats.org/officeDocument/2006/relationships/image" Target="../media/image49.svg"/><Relationship Id="rId12" Type="http://schemas.openxmlformats.org/officeDocument/2006/relationships/image" Target="../media/image5.png"/><Relationship Id="rId17" Type="http://schemas.openxmlformats.org/officeDocument/2006/relationships/image" Target="../media/image70.sv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.png"/><Relationship Id="rId11" Type="http://schemas.openxmlformats.org/officeDocument/2006/relationships/image" Target="../media/image41.svg"/><Relationship Id="rId5" Type="http://schemas.openxmlformats.org/officeDocument/2006/relationships/image" Target="../media/image123.jpeg"/><Relationship Id="rId15" Type="http://schemas.openxmlformats.org/officeDocument/2006/relationships/image" Target="../media/image45.svg"/><Relationship Id="rId10" Type="http://schemas.openxmlformats.org/officeDocument/2006/relationships/image" Target="../media/image40.png"/><Relationship Id="rId4" Type="http://schemas.openxmlformats.org/officeDocument/2006/relationships/image" Target="../media/image122.jpeg"/><Relationship Id="rId9" Type="http://schemas.openxmlformats.org/officeDocument/2006/relationships/image" Target="../media/image119.svg"/><Relationship Id="rId1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4.jpe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jpeg"/><Relationship Id="rId7" Type="http://schemas.openxmlformats.org/officeDocument/2006/relationships/image" Target="../media/image128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7.png"/><Relationship Id="rId11" Type="http://schemas.openxmlformats.org/officeDocument/2006/relationships/image" Target="../media/image45.svg"/><Relationship Id="rId5" Type="http://schemas.openxmlformats.org/officeDocument/2006/relationships/image" Target="../media/image126.svg"/><Relationship Id="rId10" Type="http://schemas.openxmlformats.org/officeDocument/2006/relationships/image" Target="../media/image44.png"/><Relationship Id="rId4" Type="http://schemas.openxmlformats.org/officeDocument/2006/relationships/image" Target="../media/image125.png"/><Relationship Id="rId9" Type="http://schemas.openxmlformats.org/officeDocument/2006/relationships/image" Target="../media/image14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.jpeg"/><Relationship Id="rId7" Type="http://schemas.openxmlformats.org/officeDocument/2006/relationships/image" Target="../media/image132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1.png"/><Relationship Id="rId5" Type="http://schemas.openxmlformats.org/officeDocument/2006/relationships/image" Target="../media/image130.svg"/><Relationship Id="rId4" Type="http://schemas.openxmlformats.org/officeDocument/2006/relationships/image" Target="../media/image129.png"/><Relationship Id="rId9" Type="http://schemas.openxmlformats.org/officeDocument/2006/relationships/image" Target="../media/image41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3" Type="http://schemas.openxmlformats.org/officeDocument/2006/relationships/image" Target="../media/image133.jpeg"/><Relationship Id="rId7" Type="http://schemas.openxmlformats.org/officeDocument/2006/relationships/image" Target="../media/image137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6.png"/><Relationship Id="rId11" Type="http://schemas.openxmlformats.org/officeDocument/2006/relationships/image" Target="../media/image141.svg"/><Relationship Id="rId5" Type="http://schemas.openxmlformats.org/officeDocument/2006/relationships/image" Target="../media/image135.svg"/><Relationship Id="rId10" Type="http://schemas.openxmlformats.org/officeDocument/2006/relationships/image" Target="../media/image140.png"/><Relationship Id="rId4" Type="http://schemas.openxmlformats.org/officeDocument/2006/relationships/image" Target="../media/image134.png"/><Relationship Id="rId9" Type="http://schemas.openxmlformats.org/officeDocument/2006/relationships/image" Target="../media/image13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pic>
        <p:nvPicPr>
          <p:cNvPr id="8" name="图片 7" descr="图片包含 前, 摩托车, 站, 消防栓&#10;&#10;描述已自动生成">
            <a:extLst>
              <a:ext uri="{FF2B5EF4-FFF2-40B4-BE49-F238E27FC236}">
                <a16:creationId xmlns:a16="http://schemas.microsoft.com/office/drawing/2014/main" id="{4514B4A1-D52C-1BE1-A127-BC882F16C5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4000" y="578133"/>
            <a:ext cx="7201528" cy="549333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398F2C89-FDE7-A6E5-0C76-93A802593AE2}"/>
              </a:ext>
            </a:extLst>
          </p:cNvPr>
          <p:cNvSpPr txBox="1"/>
          <p:nvPr/>
        </p:nvSpPr>
        <p:spPr>
          <a:xfrm>
            <a:off x="1996472" y="1595737"/>
            <a:ext cx="830637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 err="1">
                <a:solidFill>
                  <a:srgbClr val="C0000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RAⅢ</a:t>
            </a:r>
            <a:r>
              <a:rPr lang="zh-CN" altLang="en-US" sz="4800" b="1" dirty="0">
                <a:solidFill>
                  <a:srgbClr val="C00000"/>
                </a:solidFill>
              </a:rPr>
              <a:t>系列智能型电动执行机构</a:t>
            </a:r>
          </a:p>
          <a:p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3DED79C-88E4-B277-8FF7-7C1C8C18141B}"/>
              </a:ext>
            </a:extLst>
          </p:cNvPr>
          <p:cNvSpPr txBox="1"/>
          <p:nvPr/>
        </p:nvSpPr>
        <p:spPr>
          <a:xfrm>
            <a:off x="3198252" y="2570262"/>
            <a:ext cx="63647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选型 </a:t>
            </a:r>
            <a:r>
              <a:rPr lang="en-US" altLang="zh-CN" sz="2800" b="1" dirty="0">
                <a:solidFill>
                  <a:srgbClr val="C0000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</a:t>
            </a:r>
            <a:r>
              <a:rPr lang="zh-CN" altLang="en-US" sz="2800" b="1" dirty="0">
                <a:solidFill>
                  <a:srgbClr val="C0000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安装 </a:t>
            </a:r>
            <a:r>
              <a:rPr lang="en-US" altLang="zh-CN" sz="2800" b="1" dirty="0">
                <a:solidFill>
                  <a:srgbClr val="C0000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</a:t>
            </a:r>
            <a:r>
              <a:rPr lang="zh-CN" altLang="en-US" sz="2800" b="1" dirty="0">
                <a:solidFill>
                  <a:srgbClr val="C0000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使用 </a:t>
            </a:r>
            <a:r>
              <a:rPr lang="en-US" altLang="zh-CN" sz="2800" b="1" dirty="0">
                <a:solidFill>
                  <a:srgbClr val="C0000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</a:t>
            </a:r>
            <a:r>
              <a:rPr lang="zh-CN" altLang="en-US" sz="2800" b="1" dirty="0">
                <a:solidFill>
                  <a:srgbClr val="C0000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维护 全指南</a:t>
            </a:r>
          </a:p>
          <a:p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FA0C47B-C013-39AB-C7A4-B846A34671AB}"/>
              </a:ext>
            </a:extLst>
          </p:cNvPr>
          <p:cNvSpPr txBox="1"/>
          <p:nvPr/>
        </p:nvSpPr>
        <p:spPr>
          <a:xfrm>
            <a:off x="3263655" y="6179987"/>
            <a:ext cx="63647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温州瑞基测控设备有限公司 </a:t>
            </a:r>
            <a:r>
              <a:rPr lang="en-US" altLang="zh-CN" sz="1600" dirty="0">
                <a:solidFill>
                  <a:srgbClr val="C0000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| </a:t>
            </a:r>
            <a:r>
              <a:rPr lang="zh-CN" altLang="en-US" sz="1600" dirty="0">
                <a:solidFill>
                  <a:srgbClr val="C0000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上海瑞基瑞然自动化技术有限公司</a:t>
            </a:r>
          </a:p>
          <a:p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A57BAF2-3639-2FD9-E56F-D442940D2D93}"/>
              </a:ext>
            </a:extLst>
          </p:cNvPr>
          <p:cNvSpPr txBox="1"/>
          <p:nvPr/>
        </p:nvSpPr>
        <p:spPr>
          <a:xfrm>
            <a:off x="5354053" y="5347870"/>
            <a:ext cx="2815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i="0" u="none" strike="noStrike" dirty="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2026 .04.25</a:t>
            </a:r>
            <a:endParaRPr lang="en-US" altLang="zh-CN" sz="1050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065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spc="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14500"/>
            <a:ext cx="5207000" cy="1079500"/>
          </a:xfrm>
          <a:prstGeom prst="roundRect">
            <a:avLst>
              <a:gd name="adj" fmla="val 14117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905000"/>
            <a:ext cx="698500" cy="6985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2032000"/>
            <a:ext cx="698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968500" y="18796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产品概述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968500" y="2260600"/>
            <a:ext cx="374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了解RAⅢ系列的核心定位与设计优势，建立对产品的整体认知</a:t>
            </a:r>
            <a:r>
              <a:rPr lang="en-US" sz="11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762000" y="2984500"/>
            <a:ext cx="5207000" cy="1079500"/>
          </a:xfrm>
          <a:prstGeom prst="roundRect">
            <a:avLst>
              <a:gd name="adj" fmla="val 14117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16000" y="3175000"/>
            <a:ext cx="698500" cy="6985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016000" y="3302000"/>
            <a:ext cx="698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968500" y="31496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核心技术与原理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968500" y="3530600"/>
            <a:ext cx="374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深入解析产品的关键技术指标、核心架构与底层工作运行机制。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4254500"/>
            <a:ext cx="5207000" cy="1079500"/>
          </a:xfrm>
          <a:prstGeom prst="roundRect">
            <a:avLst>
              <a:gd name="adj" fmla="val 14117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016000" y="4445000"/>
            <a:ext cx="698500" cy="6985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016000" y="4572000"/>
            <a:ext cx="698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968500" y="44196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核心功能特点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968500" y="4800600"/>
            <a:ext cx="374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全面掌握产品的多重保护机制、智能控制逻辑及人性化交互设计。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524500"/>
            <a:ext cx="5207000" cy="1079500"/>
          </a:xfrm>
          <a:prstGeom prst="roundRect">
            <a:avLst>
              <a:gd name="adj" fmla="val 14117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1016000" y="5715000"/>
            <a:ext cx="698500" cy="6985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1016000" y="5842000"/>
            <a:ext cx="698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968500" y="56896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选型指南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968500" y="6070600"/>
            <a:ext cx="374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学习如何根据实际工况、负载类型及环境要求，科学选择适配型号。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223000" y="1714500"/>
            <a:ext cx="5207000" cy="1079500"/>
          </a:xfrm>
          <a:prstGeom prst="roundRect">
            <a:avLst>
              <a:gd name="adj" fmla="val 14117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477000" y="1905000"/>
            <a:ext cx="698500" cy="6985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477000" y="2032000"/>
            <a:ext cx="698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429500" y="18796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安装与调试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429500" y="2260600"/>
            <a:ext cx="374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严格遵循标准的硬件安装流程，掌握现场调试的关键步骤与参数配置。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223000" y="2984500"/>
            <a:ext cx="5207000" cy="1079500"/>
          </a:xfrm>
          <a:prstGeom prst="roundRect">
            <a:avLst>
              <a:gd name="adj" fmla="val 14117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477000" y="3175000"/>
            <a:ext cx="698500" cy="6985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6477000" y="3302000"/>
            <a:ext cx="698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429500" y="31496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操作与维护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7429500" y="3530600"/>
            <a:ext cx="374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熟悉设备的日常操作规范、定期维护保养项目及常见故障的排查方法。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223000" y="4254500"/>
            <a:ext cx="5207000" cy="1079500"/>
          </a:xfrm>
          <a:prstGeom prst="roundRect">
            <a:avLst>
              <a:gd name="adj" fmla="val 14117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6477000" y="4445000"/>
            <a:ext cx="698500" cy="6985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6477000" y="4572000"/>
            <a:ext cx="698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7429500" y="44196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应用案例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7429500" y="4800600"/>
            <a:ext cx="374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通过典型行业的实际应用案例，直观见证产品在复杂场景下的稳定表现。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6223000" y="5524500"/>
            <a:ext cx="5207000" cy="1079500"/>
          </a:xfrm>
          <a:prstGeom prst="roundRect">
            <a:avLst>
              <a:gd name="adj" fmla="val 14117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41"/>
          <p:cNvSpPr/>
          <p:nvPr/>
        </p:nvSpPr>
        <p:spPr>
          <a:xfrm>
            <a:off x="6477000" y="5715000"/>
            <a:ext cx="698500" cy="6985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AutoShape 42"/>
          <p:cNvSpPr/>
          <p:nvPr/>
        </p:nvSpPr>
        <p:spPr>
          <a:xfrm>
            <a:off x="6477000" y="5842000"/>
            <a:ext cx="698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08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7429500" y="56896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控制与订货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7429500" y="6070600"/>
            <a:ext cx="374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明确产品的标准控制接线规范、接口定义，以及具体的订货代码规则。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产品概述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4064000" cy="4826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1F2937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6000" y="1778000"/>
            <a:ext cx="3556000" cy="3556000"/>
          </a:xfrm>
          <a:prstGeom prst="roundRect">
            <a:avLst>
              <a:gd name="adj" fmla="val 4285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016000" y="5524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 spc="200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RA Ⅲ SERIES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5461000" y="11430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新一代智能型多回转电动执行机构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461000" y="1651000"/>
            <a:ext cx="6096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651500" y="1778000"/>
            <a:ext cx="571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RAⅢ系列采用</a:t>
            </a:r>
            <a:r>
              <a:rPr lang="en-US" sz="1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非侵入式设计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理念，通过红外设定器即可完成全参数调试、状态查询与故障诊断，无需打开设备电气箱，极大提升了恶劣工况下的维护效率与安全性。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461000" y="2921000"/>
            <a:ext cx="2921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51500" y="31115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286500" y="30480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双密封防护结构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86500" y="3429000"/>
            <a:ext cx="1968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IP68顶级防水等级，无惧潮湿、粉尘等恶劣工业环境。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636000" y="2921000"/>
            <a:ext cx="2921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26500" y="31115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461500" y="30480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非侵入式红外调试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461500" y="3429000"/>
            <a:ext cx="1968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隔爆环境下免开盖操作，调试安全便捷，避免误操作风险。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461000" y="4191000"/>
            <a:ext cx="2921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1500" y="4381500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286500" y="43180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绝对编码器阀位检测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86500" y="4699000"/>
            <a:ext cx="1968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断电数据永不丢失，开机即刻精准定位，控制精度达0.1°。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636000" y="4191000"/>
            <a:ext cx="2921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826500" y="4381500"/>
            <a:ext cx="457200" cy="4572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461500" y="43180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电动优先手动切换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461500" y="4699000"/>
            <a:ext cx="1968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具备多重力矩与行程保护机制，电动/手动切换保障设备安全。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461000" y="5461000"/>
            <a:ext cx="2921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651500" y="5651500"/>
            <a:ext cx="381000" cy="3810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6223000" y="5562600"/>
            <a:ext cx="209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1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全系列支持现场总线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轻松融入工业物联网</a:t>
            </a:r>
            <a:r>
              <a:rPr lang="en-US" sz="10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sz="10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IIoT</a:t>
            </a:r>
            <a:r>
              <a:rPr lang="en-US" sz="10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r>
              <a:rPr lang="en-US" sz="10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</a:t>
            </a:r>
            <a:r>
              <a:rPr lang="en-US" sz="10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32" name="图片 31" descr="图片包含 前, 摩托车, 消防栓, 站&#10;&#10;描述已自动生成">
            <a:extLst>
              <a:ext uri="{FF2B5EF4-FFF2-40B4-BE49-F238E27FC236}">
                <a16:creationId xmlns:a16="http://schemas.microsoft.com/office/drawing/2014/main" id="{594AD1C6-FFDA-0699-CDF7-1E62EF13932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8069" y="2004787"/>
            <a:ext cx="4067931" cy="31024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产品概述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33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广泛的核心应用场景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841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RAⅢ系列凭借其卓越的性能，广泛适配于多个关键工业领域，能够精准驱动各类阀门，满足不同工况的控制需求，是工业自动化控制中不可或缺的核心执行部件。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794000"/>
            <a:ext cx="5207000" cy="1587500"/>
          </a:xfrm>
          <a:prstGeom prst="roundRect">
            <a:avLst>
              <a:gd name="adj" fmla="val 960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3073400"/>
            <a:ext cx="1016000" cy="10160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9200" y="32766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2286000" y="29845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石油化工行业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286000" y="34290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适配闸阀、截止阀等直行程阀门及角行程阀门，广泛应用于油气开采、长输管道及炼化装置的流体控制。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2794000"/>
            <a:ext cx="5207000" cy="1587500"/>
          </a:xfrm>
          <a:prstGeom prst="roundRect">
            <a:avLst>
              <a:gd name="adj" fmla="val 960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477000" y="3073400"/>
            <a:ext cx="1016000" cy="10160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80200" y="32766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747000" y="29845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电力能源行业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747000" y="34290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深度应用于火电、核电的锅炉、汽轮机及脱硫系统，精准控制蒸汽、水、烟气介质，保障机组稳定运行。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635500"/>
            <a:ext cx="5207000" cy="1587500"/>
          </a:xfrm>
          <a:prstGeom prst="roundRect">
            <a:avLst>
              <a:gd name="adj" fmla="val 960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016000" y="4914900"/>
            <a:ext cx="1016000" cy="10160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19200" y="5118100"/>
            <a:ext cx="609600" cy="609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2286000" y="4826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冶金制造行业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2286000" y="52705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适应高温、高压、粉尘等恶劣工况，可靠控制高炉、转炉、轧钢等核心设备的工艺阀门，实现精确流体调节。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23000" y="4635500"/>
            <a:ext cx="5207000" cy="1587500"/>
          </a:xfrm>
          <a:prstGeom prst="roundRect">
            <a:avLst>
              <a:gd name="adj" fmla="val 960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477000" y="4914900"/>
            <a:ext cx="1016000" cy="10160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80200" y="5118100"/>
            <a:ext cx="609600" cy="609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747000" y="4826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水务处理行业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747000" y="52705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覆盖自来水厂净化、污水处理排放及泵站控制系统，实现液位、流量的智能精准调节，保障城市水脉安全。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核心技术与原理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1F2937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714500"/>
            <a:ext cx="762000" cy="7620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6500" y="1905000"/>
            <a:ext cx="381000" cy="381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032000" y="15875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输入信号支持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032000" y="19685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4-20mA / 1-5VDC</a:t>
            </a:r>
            <a:b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24VDC脉冲/电平 / 现场总线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1397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1F2937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699000" y="1714500"/>
            <a:ext cx="762000" cy="7620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89500" y="1905000"/>
            <a:ext cx="381000" cy="381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715000" y="15875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宽电压供电设计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715000" y="19685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380VAC / 220VAC (50Hz)</a:t>
            </a:r>
            <a:b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支持特殊电压定制需求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1397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1F2937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382000" y="1714500"/>
            <a:ext cx="762000" cy="7620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72500" y="1905000"/>
            <a:ext cx="381000" cy="381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398000" y="15875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控制基本误差限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398000" y="19685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系统综合误差 ≤ 1.0%</a:t>
            </a:r>
            <a:b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确保控制输出的精准度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3048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1F2937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1016000" y="3365500"/>
            <a:ext cx="762000" cy="7620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06500" y="3556000"/>
            <a:ext cx="381000" cy="381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2032000" y="32385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行程控制重复性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2032000" y="36195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重复定位误差 ≤ 1%</a:t>
            </a:r>
            <a:b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长期运行性能稳定一致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445000" y="3048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1F2937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4699000" y="3365500"/>
            <a:ext cx="762000" cy="7620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889500" y="3556000"/>
            <a:ext cx="381000" cy="3810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5715000" y="32385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外壳防护等级 IP68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5715000" y="36195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防尘防水顶级标准</a:t>
            </a:r>
            <a:b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适应户外/潮湿恶劣环境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128000" y="3048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1F2937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8382000" y="3365500"/>
            <a:ext cx="762000" cy="7620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572500" y="3556000"/>
            <a:ext cx="381000" cy="3810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9398000" y="32385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防爆安全认证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9398000" y="36195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ExdⅡCT4 </a:t>
            </a:r>
            <a:r>
              <a:rPr lang="en-US" sz="1100" b="0" i="0" u="none" strike="noStrike" dirty="0" err="1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防爆标志</a:t>
            </a:r>
            <a:br>
              <a:rPr lang="en-US" sz="11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 dirty="0" err="1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满足化工等危险场合要求</a:t>
            </a:r>
            <a:endParaRPr lang="en-US" sz="1100" dirty="0"/>
          </a:p>
        </p:txBody>
      </p:sp>
      <p:sp>
        <p:nvSpPr>
          <p:cNvPr id="34" name="AutoShape 34"/>
          <p:cNvSpPr/>
          <p:nvPr/>
        </p:nvSpPr>
        <p:spPr>
          <a:xfrm>
            <a:off x="762000" y="4699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1F2937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1016000" y="5016500"/>
            <a:ext cx="762000" cy="7620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06500" y="5207000"/>
            <a:ext cx="381000" cy="3810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2032000" y="48895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宽温工作适应性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2032000" y="52705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-30℃ ~ +70℃ 宽温域</a:t>
            </a:r>
            <a:b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高低温环境均可稳定运行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4445000" y="4699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1F2937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AutoShape 40"/>
          <p:cNvSpPr/>
          <p:nvPr/>
        </p:nvSpPr>
        <p:spPr>
          <a:xfrm>
            <a:off x="4699000" y="5016500"/>
            <a:ext cx="762000" cy="7620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889500" y="5207000"/>
            <a:ext cx="381000" cy="381000"/>
          </a:xfrm>
          <a:prstGeom prst="rect">
            <a:avLst/>
          </a:prstGeom>
        </p:spPr>
      </p:pic>
      <p:sp>
        <p:nvSpPr>
          <p:cNvPr id="42" name="AutoShape 42"/>
          <p:cNvSpPr/>
          <p:nvPr/>
        </p:nvSpPr>
        <p:spPr>
          <a:xfrm>
            <a:off x="5715000" y="48895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高湿度耐受能力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5715000" y="52705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相对湿度 ≤ 95% (无凝露)</a:t>
            </a:r>
            <a:b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适应潮湿/沿海等环境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8128000" y="4699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1F2937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AutoShape 45"/>
          <p:cNvSpPr/>
          <p:nvPr/>
        </p:nvSpPr>
        <p:spPr>
          <a:xfrm>
            <a:off x="8382000" y="5016500"/>
            <a:ext cx="762000" cy="7620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6" name="Picture 46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572500" y="5207000"/>
            <a:ext cx="381000" cy="381000"/>
          </a:xfrm>
          <a:prstGeom prst="rect">
            <a:avLst/>
          </a:prstGeom>
        </p:spPr>
      </p:pic>
      <p:sp>
        <p:nvSpPr>
          <p:cNvPr id="47" name="AutoShape 47"/>
          <p:cNvSpPr/>
          <p:nvPr/>
        </p:nvSpPr>
        <p:spPr>
          <a:xfrm>
            <a:off x="9398000" y="48895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全通道电气隔离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9398000" y="52705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输入/输出通道全光电隔离</a:t>
            </a:r>
            <a:b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抗干扰能力强，数据安全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核心技术与原理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4572000" cy="4826000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76200" dir="2700000" algn="tl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5461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电动执行机构内部核心结构剖面示意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588000" y="1524000"/>
            <a:ext cx="584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5842000" y="15367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▍</a:t>
            </a:r>
            <a:r>
              <a:rPr lang="en-US" sz="1800" b="1" i="0" u="none" strike="noStrike" dirty="0" err="1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核心工作原理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5842000" y="1962150"/>
            <a:ext cx="5334000" cy="533400"/>
          </a:xfrm>
          <a:prstGeom prst="roundRect">
            <a:avLst>
              <a:gd name="adj" fmla="val 19047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69000" y="2063750"/>
            <a:ext cx="330200" cy="330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477000" y="203835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电动驱动：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电机经联轴/蜗杆传动至输出轴，编码器实时闭环检测阀位。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42000" y="2559050"/>
            <a:ext cx="5334000" cy="533400"/>
          </a:xfrm>
          <a:prstGeom prst="roundRect">
            <a:avLst>
              <a:gd name="adj" fmla="val 19047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69000" y="2660650"/>
            <a:ext cx="330200" cy="330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477000" y="263525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手动操作：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切换手柄使离合器脱开蜗轮，直连手轮，轻松驱动输出轴。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842000" y="3155950"/>
            <a:ext cx="5334000" cy="533400"/>
          </a:xfrm>
          <a:prstGeom prst="roundRect">
            <a:avLst>
              <a:gd name="adj" fmla="val 19047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69000" y="3257550"/>
            <a:ext cx="330200" cy="330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477000" y="323215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电动优先：</a:t>
            </a: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电机运转时自动复位至电动模式，手柄锁定时除外，保障安全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5588000" y="4191000"/>
            <a:ext cx="584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5842000" y="419735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▍</a:t>
            </a:r>
            <a:r>
              <a:rPr lang="en-US" sz="1800" b="1" i="0" u="none" strike="noStrike" dirty="0" err="1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核心结构亮点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5842000" y="4578350"/>
            <a:ext cx="2603500" cy="762000"/>
          </a:xfrm>
          <a:prstGeom prst="roundRect">
            <a:avLst>
              <a:gd name="adj" fmla="val 13333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69000" y="4705350"/>
            <a:ext cx="381000" cy="381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477000" y="4654550"/>
            <a:ext cx="1905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双密封结构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3米水深浸泡72h正常工作</a:t>
            </a:r>
            <a:endParaRPr 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8572500" y="4578350"/>
            <a:ext cx="2603500" cy="762000"/>
          </a:xfrm>
          <a:prstGeom prst="roundRect">
            <a:avLst>
              <a:gd name="adj" fmla="val 13333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99500" y="4705350"/>
            <a:ext cx="381000" cy="381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207500" y="4654550"/>
            <a:ext cx="1905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非侵入式旋钮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无贯通轴，杜绝粉尘潮气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842000" y="5467350"/>
            <a:ext cx="2603500" cy="762000"/>
          </a:xfrm>
          <a:prstGeom prst="roundRect">
            <a:avLst>
              <a:gd name="adj" fmla="val 13333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969000" y="5594350"/>
            <a:ext cx="381000" cy="3810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6477000" y="5543550"/>
            <a:ext cx="1905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高转矩电机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双热继保护，启动响应快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572500" y="5467350"/>
            <a:ext cx="2603500" cy="762000"/>
          </a:xfrm>
          <a:prstGeom prst="roundRect">
            <a:avLst>
              <a:gd name="adj" fmla="val 13333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699500" y="5594350"/>
            <a:ext cx="381000" cy="3810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9207500" y="5543550"/>
            <a:ext cx="1905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油浴润滑机构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蜗轮蜗杆全浸油，寿命长</a:t>
            </a:r>
            <a:endParaRPr lang="en-US" sz="1100"/>
          </a:p>
        </p:txBody>
      </p:sp>
      <p:pic>
        <p:nvPicPr>
          <p:cNvPr id="33" name="图片 32" descr="图片包含 室内, 玩具, 桌子, 乐高&#10;&#10;描述已自动生成">
            <a:extLst>
              <a:ext uri="{FF2B5EF4-FFF2-40B4-BE49-F238E27FC236}">
                <a16:creationId xmlns:a16="http://schemas.microsoft.com/office/drawing/2014/main" id="{6057F9AE-8254-B64E-A307-D839DFAC3B4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0584" y="2085109"/>
            <a:ext cx="4335228" cy="28996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核心功能特点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全方位保护机制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207000" cy="1079500"/>
          </a:xfrm>
          <a:prstGeom prst="roundRect">
            <a:avLst>
              <a:gd name="adj" fmla="val 1411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76200" cy="1079500"/>
          </a:xfrm>
          <a:prstGeom prst="roundRect">
            <a:avLst>
              <a:gd name="adj" fmla="val 20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92200" y="2095500"/>
            <a:ext cx="685800" cy="6858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1900" y="22352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2032000" y="2032000"/>
            <a:ext cx="368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转矩保护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032000" y="24130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关/开方向过矩值可设（30%~100%），同步保护阀门与执行机构，防止机械损坏。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111500"/>
            <a:ext cx="5207000" cy="1079500"/>
          </a:xfrm>
          <a:prstGeom prst="roundRect">
            <a:avLst>
              <a:gd name="adj" fmla="val 1411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62000" y="3111500"/>
            <a:ext cx="76200" cy="1079500"/>
          </a:xfrm>
          <a:prstGeom prst="roundRect">
            <a:avLst>
              <a:gd name="adj" fmla="val 20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92200" y="3302000"/>
            <a:ext cx="685800" cy="6858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31900" y="34417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2032000" y="3238500"/>
            <a:ext cx="368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阀位限位保护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032000" y="36195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到达开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关限位自动停止，支持“限位+过矩”双模式保护，提供双重安全冗余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762000" y="4318000"/>
            <a:ext cx="5207000" cy="1079500"/>
          </a:xfrm>
          <a:prstGeom prst="roundRect">
            <a:avLst>
              <a:gd name="adj" fmla="val 1411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62000" y="4318000"/>
            <a:ext cx="76200" cy="1079500"/>
          </a:xfrm>
          <a:prstGeom prst="roundRect">
            <a:avLst>
              <a:gd name="adj" fmla="val 20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1092200" y="4508500"/>
            <a:ext cx="685800" cy="6858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31900" y="46482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2032000" y="4445000"/>
            <a:ext cx="368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自动相序调整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2032000" y="48260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自动检测电源相序并智能调整，现场接线无需区分相序，彻底避免因接反导致的设备故障。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524500"/>
            <a:ext cx="5207000" cy="1079500"/>
          </a:xfrm>
          <a:prstGeom prst="roundRect">
            <a:avLst>
              <a:gd name="adj" fmla="val 1411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762000" y="5524500"/>
            <a:ext cx="76200" cy="1079500"/>
          </a:xfrm>
          <a:prstGeom prst="roundRect">
            <a:avLst>
              <a:gd name="adj" fmla="val 20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1092200" y="5715000"/>
            <a:ext cx="685800" cy="6858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31900" y="5854700"/>
            <a:ext cx="406400" cy="4064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2032000" y="5651500"/>
            <a:ext cx="368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电源缺相保护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2032000" y="60325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采用静态+动态双重检测算法，无论电机处于静止待机还是运行状态，均可立即识别并告警。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223000" y="1905000"/>
            <a:ext cx="5207000" cy="1079500"/>
          </a:xfrm>
          <a:prstGeom prst="roundRect">
            <a:avLst>
              <a:gd name="adj" fmla="val 1411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6223000" y="1905000"/>
            <a:ext cx="76200" cy="1079500"/>
          </a:xfrm>
          <a:prstGeom prst="roundRect">
            <a:avLst>
              <a:gd name="adj" fmla="val 20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553200" y="2095500"/>
            <a:ext cx="685800" cy="6858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92900" y="2235200"/>
            <a:ext cx="406400" cy="4064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7493000" y="2032000"/>
            <a:ext cx="368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瞬时反转保护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7493000" y="24130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反向动作时自动执行延时缓冲程序，有效避免阀轴与变速箱因瞬时冲击造成的机械磨损。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223000" y="3111500"/>
            <a:ext cx="5207000" cy="1079500"/>
          </a:xfrm>
          <a:prstGeom prst="roundRect">
            <a:avLst>
              <a:gd name="adj" fmla="val 1411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6223000" y="3111500"/>
            <a:ext cx="76200" cy="1079500"/>
          </a:xfrm>
          <a:prstGeom prst="roundRect">
            <a:avLst>
              <a:gd name="adj" fmla="val 20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6553200" y="3302000"/>
            <a:ext cx="685800" cy="6858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92900" y="3441700"/>
            <a:ext cx="406400" cy="406400"/>
          </a:xfrm>
          <a:prstGeom prst="rect">
            <a:avLst/>
          </a:prstGeom>
        </p:spPr>
      </p:pic>
      <p:sp>
        <p:nvSpPr>
          <p:cNvPr id="39" name="AutoShape 39"/>
          <p:cNvSpPr/>
          <p:nvPr/>
        </p:nvSpPr>
        <p:spPr>
          <a:xfrm>
            <a:off x="7493000" y="3238500"/>
            <a:ext cx="368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阀门解卡功能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7493000" y="36195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启动时暂时禁用转矩保护，以最大扭矩输出，实现对长期未操作而卡住的阀门进行强力解卡。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6223000" y="4318000"/>
            <a:ext cx="5207000" cy="1079500"/>
          </a:xfrm>
          <a:prstGeom prst="roundRect">
            <a:avLst>
              <a:gd name="adj" fmla="val 1411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AutoShape 42"/>
          <p:cNvSpPr/>
          <p:nvPr/>
        </p:nvSpPr>
        <p:spPr>
          <a:xfrm>
            <a:off x="6223000" y="4318000"/>
            <a:ext cx="76200" cy="1079500"/>
          </a:xfrm>
          <a:prstGeom prst="roundRect">
            <a:avLst>
              <a:gd name="adj" fmla="val 20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AutoShape 43"/>
          <p:cNvSpPr/>
          <p:nvPr/>
        </p:nvSpPr>
        <p:spPr>
          <a:xfrm>
            <a:off x="6553200" y="4508500"/>
            <a:ext cx="685800" cy="6858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692900" y="4648200"/>
            <a:ext cx="406400" cy="406400"/>
          </a:xfrm>
          <a:prstGeom prst="rect">
            <a:avLst/>
          </a:prstGeom>
        </p:spPr>
      </p:pic>
      <p:sp>
        <p:nvSpPr>
          <p:cNvPr id="45" name="AutoShape 45"/>
          <p:cNvSpPr/>
          <p:nvPr/>
        </p:nvSpPr>
        <p:spPr>
          <a:xfrm>
            <a:off x="7493000" y="4445000"/>
            <a:ext cx="368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过热保护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7493000" y="48260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电机绕组内置双热继电器，实时监控温度，一旦超温立即切断控制回路，禁止设备继续动作。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6223000" y="5524500"/>
            <a:ext cx="5207000" cy="1079500"/>
          </a:xfrm>
          <a:prstGeom prst="roundRect">
            <a:avLst>
              <a:gd name="adj" fmla="val 1411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AutoShape 48"/>
          <p:cNvSpPr/>
          <p:nvPr/>
        </p:nvSpPr>
        <p:spPr>
          <a:xfrm>
            <a:off x="6223000" y="5524500"/>
            <a:ext cx="76200" cy="1079500"/>
          </a:xfrm>
          <a:prstGeom prst="roundRect">
            <a:avLst>
              <a:gd name="adj" fmla="val 20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49"/>
          <p:cNvSpPr/>
          <p:nvPr/>
        </p:nvSpPr>
        <p:spPr>
          <a:xfrm>
            <a:off x="6553200" y="5715000"/>
            <a:ext cx="685800" cy="6858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92900" y="5854700"/>
            <a:ext cx="406400" cy="406400"/>
          </a:xfrm>
          <a:prstGeom prst="rect">
            <a:avLst/>
          </a:prstGeom>
        </p:spPr>
      </p:pic>
      <p:sp>
        <p:nvSpPr>
          <p:cNvPr id="51" name="AutoShape 51"/>
          <p:cNvSpPr/>
          <p:nvPr/>
        </p:nvSpPr>
        <p:spPr>
          <a:xfrm>
            <a:off x="7493000" y="5651500"/>
            <a:ext cx="368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电子闩锁功能</a:t>
            </a:r>
            <a:endParaRPr lang="en-US" sz="1100"/>
          </a:p>
        </p:txBody>
      </p:sp>
      <p:sp>
        <p:nvSpPr>
          <p:cNvPr id="52" name="AutoShape 52"/>
          <p:cNvSpPr/>
          <p:nvPr/>
        </p:nvSpPr>
        <p:spPr>
          <a:xfrm>
            <a:off x="7493000" y="60325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启动初期短时禁用转矩保护，提供足够的启动力矩，保障高惯量、高阻力负荷阀门顺利开启。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核心功能特点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609600" cy="6096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8400" y="20574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19685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多模式控制体系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667000"/>
            <a:ext cx="2794000" cy="127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16000" y="2921000"/>
            <a:ext cx="2794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基础操作模式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支持就地手动调试与远程开关量控制，满足现场最基础的启停调控需求。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016000" y="3937000"/>
            <a:ext cx="2794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智能模拟调节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4-20mA 模拟量输入输出，实现阀门开度的精准线性比例调节，控制精度高。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016000" y="4953000"/>
            <a:ext cx="2794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数字化总线集成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兼容 Profibus/Modbus/Hart 等主流协议，可无缝接入工厂 DCS 控制系统。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445000" y="1651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699000" y="1905000"/>
            <a:ext cx="609600" cy="6096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51400" y="20574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461000" y="19685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特殊工况适配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99000" y="2667000"/>
            <a:ext cx="2794000" cy="127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699000" y="2921000"/>
            <a:ext cx="2794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间隙定时防护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支持自定义动作与停动时间，有效消除水锤效应与流体喘振，保护管路安全。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4699000" y="3937000"/>
            <a:ext cx="2794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ESD 紧急动作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紧急状态下可超越常规限制，自动执行全开、全关或保位指令，响应速度快。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4699000" y="4953000"/>
            <a:ext cx="2794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联锁控制逻辑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支持开/关阀双向联锁功能，完美适配石油化工等高安全等级的控制场景。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8128000" y="1651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382000" y="1905000"/>
            <a:ext cx="609600" cy="6096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34400" y="20574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144000" y="19685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物联网扩展能力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382000" y="2667000"/>
            <a:ext cx="2794000" cy="127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382000" y="2921000"/>
            <a:ext cx="2794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全网络通信支持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内置工业以太网接口，兼容 2G/3G/4G/5G 无线模块，网络接入方式灵活。</a:t>
            </a:r>
          </a:p>
        </p:txBody>
      </p:sp>
      <p:sp>
        <p:nvSpPr>
          <p:cNvPr id="26" name="AutoShape 26"/>
          <p:cNvSpPr/>
          <p:nvPr/>
        </p:nvSpPr>
        <p:spPr>
          <a:xfrm>
            <a:off x="8382000" y="3937000"/>
            <a:ext cx="2794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云端远程监控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可接入工业物联网平台，随时随地查看设备运行参数，实现无人值守监控。</a:t>
            </a:r>
          </a:p>
        </p:txBody>
      </p:sp>
      <p:sp>
        <p:nvSpPr>
          <p:cNvPr id="27" name="AutoShape 27"/>
          <p:cNvSpPr/>
          <p:nvPr/>
        </p:nvSpPr>
        <p:spPr>
          <a:xfrm>
            <a:off x="8382000" y="4953000"/>
            <a:ext cx="2794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远程诊断与预警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基于云端大数据分析，提前预警潜在故障风险，大幅降低现场维护成本。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选型指南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207000" cy="952500"/>
          </a:xfrm>
          <a:prstGeom prst="roundRect">
            <a:avLst>
              <a:gd name="adj" fmla="val 10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1F2937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76200" cy="952500"/>
          </a:xfrm>
          <a:prstGeom prst="roundRect">
            <a:avLst>
              <a:gd name="adj" fmla="val 133333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5621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15240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阀门最大转矩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778000" y="18796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需匹配执行机构额定转矩，建议预留安全余量，最大可设保护转矩为额定转矩1.2倍。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2476500"/>
            <a:ext cx="5207000" cy="952500"/>
          </a:xfrm>
          <a:prstGeom prst="roundRect">
            <a:avLst>
              <a:gd name="adj" fmla="val 10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1F2937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62000" y="2476500"/>
            <a:ext cx="76200" cy="952500"/>
          </a:xfrm>
          <a:prstGeom prst="roundRect">
            <a:avLst>
              <a:gd name="adj" fmla="val 133333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26416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778000" y="26035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阀门动作速度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778000" y="29591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根据阀门行程、动作时间计算所需输出转速，建议行程时间不低于25秒。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556000"/>
            <a:ext cx="5207000" cy="952500"/>
          </a:xfrm>
          <a:prstGeom prst="roundRect">
            <a:avLst>
              <a:gd name="adj" fmla="val 10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1F2937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62000" y="3556000"/>
            <a:ext cx="76200" cy="952500"/>
          </a:xfrm>
          <a:prstGeom prst="roundRect">
            <a:avLst>
              <a:gd name="adj" fmla="val 133333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3721100"/>
            <a:ext cx="609600" cy="609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778000" y="36830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法兰连接型式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778000" y="40386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遵循ISO5210标准，根据阀杆类型选择推力型/非推力型连接。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635500"/>
            <a:ext cx="5207000" cy="952500"/>
          </a:xfrm>
          <a:prstGeom prst="roundRect">
            <a:avLst>
              <a:gd name="adj" fmla="val 10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1F2937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62000" y="4635500"/>
            <a:ext cx="76200" cy="952500"/>
          </a:xfrm>
          <a:prstGeom prst="roundRect">
            <a:avLst>
              <a:gd name="adj" fmla="val 133333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6000" y="4800600"/>
            <a:ext cx="609600" cy="609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778000" y="47625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阀杆参数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778000" y="51181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核对执行机构驱动套可容纳的最大阀杆直径，明杆/暗杆适配尺寸不同。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715000"/>
            <a:ext cx="5207000" cy="952500"/>
          </a:xfrm>
          <a:prstGeom prst="roundRect">
            <a:avLst>
              <a:gd name="adj" fmla="val 10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1F2937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762000" y="5715000"/>
            <a:ext cx="76200" cy="952500"/>
          </a:xfrm>
          <a:prstGeom prst="roundRect">
            <a:avLst>
              <a:gd name="adj" fmla="val 133333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6000" y="5880100"/>
            <a:ext cx="609600" cy="609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1778000" y="58420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阀门最大推力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778000" y="61976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推力型连接需核对执行机构额定推力，超出范围需升级型号。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223000" y="1397000"/>
            <a:ext cx="5207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76200" dir="5400000" algn="tl" rotWithShape="0">
              <a:srgbClr val="1F2937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223000" y="4699000"/>
            <a:ext cx="5207000" cy="1968500"/>
          </a:xfrm>
          <a:prstGeom prst="roundRect">
            <a:avLst>
              <a:gd name="adj" fmla="val 7741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76200" dir="54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77000" y="4889500"/>
            <a:ext cx="304800" cy="3048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6858000" y="48641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工况选型特别提示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477000" y="5334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1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• 本系列为间歇工作型，每小时启动不超过60次，连续工作≤15分钟。</a:t>
            </a:r>
            <a:endParaRPr lang="en-US" sz="1100" dirty="0"/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1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频繁启停</a:t>
            </a:r>
            <a:r>
              <a:rPr lang="en-US" sz="11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1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高精度调节场景，推荐选用</a:t>
            </a:r>
            <a:r>
              <a:rPr lang="en-US" sz="11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 RQMIII </a:t>
            </a:r>
            <a:r>
              <a:rPr lang="en-US" sz="11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系列执行机构</a:t>
            </a:r>
            <a:r>
              <a:rPr lang="en-US" sz="11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1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角行程阀门配</a:t>
            </a:r>
            <a:r>
              <a:rPr lang="en-US" sz="11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 RGW </a:t>
            </a:r>
            <a:r>
              <a:rPr lang="en-US" sz="11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蜗轮箱，大转矩直行程阀门配</a:t>
            </a:r>
            <a:r>
              <a:rPr lang="en-US" sz="11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 RIB </a:t>
            </a:r>
            <a:r>
              <a:rPr lang="zh-CN" altLang="en-US" sz="11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齿</a:t>
            </a:r>
            <a:r>
              <a:rPr lang="en-US" sz="11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轮箱</a:t>
            </a:r>
            <a:r>
              <a:rPr lang="en-US" sz="11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pic>
        <p:nvPicPr>
          <p:cNvPr id="36" name="图片 35" descr="图片包含 游戏机, 消防栓&#10;&#10;描述已自动生成">
            <a:extLst>
              <a:ext uri="{FF2B5EF4-FFF2-40B4-BE49-F238E27FC236}">
                <a16:creationId xmlns:a16="http://schemas.microsoft.com/office/drawing/2014/main" id="{41672150-D7E3-CA5D-EA1C-BFD2D4F3724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1282" y="1422400"/>
            <a:ext cx="4698518" cy="2959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选型指南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主机性能参数（380VAC/50HZ 精简版）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4999"/>
            <a:ext cx="2032000" cy="4560455"/>
          </a:xfrm>
          <a:prstGeom prst="roundRect">
            <a:avLst>
              <a:gd name="adj" fmla="val 7500"/>
            </a:avLst>
          </a:prstGeom>
          <a:solidFill>
            <a:srgbClr val="1F2937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2032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21590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RAⅢ 7A/11A/13A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2667000"/>
            <a:ext cx="1778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8321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2730500"/>
            <a:ext cx="120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 dirty="0" err="1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额定转矩</a:t>
            </a:r>
            <a:r>
              <a:rPr lang="en-US" sz="1000" b="0" i="0" u="none" strike="noStrike" dirty="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en-US" sz="1000" b="0" i="0" u="none" strike="noStrike" dirty="0" err="1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N.m</a:t>
            </a:r>
            <a:r>
              <a:rPr lang="en-US" sz="1000" b="0" i="0" u="none" strike="noStrike" dirty="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 dirty="0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34 ~ 136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889000" y="3429000"/>
            <a:ext cx="1778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5941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3492500"/>
            <a:ext cx="120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输出转速 (rpm)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18 ~ 144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89000" y="4191000"/>
            <a:ext cx="1778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3561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397000" y="4254500"/>
            <a:ext cx="120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电机功率 (kW)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0.05 ~ 0.23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89000" y="4953000"/>
            <a:ext cx="1778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6000" y="5851236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397000" y="5749636"/>
            <a:ext cx="120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连接法兰规格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F10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2921000" y="1905000"/>
            <a:ext cx="2032000" cy="4560454"/>
          </a:xfrm>
          <a:prstGeom prst="roundRect">
            <a:avLst>
              <a:gd name="adj" fmla="val 7500"/>
            </a:avLst>
          </a:prstGeom>
          <a:solidFill>
            <a:srgbClr val="1F2937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2921000" y="1905000"/>
            <a:ext cx="2032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2921000" y="21590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RAⅢ 14A/15A/16A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048000" y="2655455"/>
            <a:ext cx="1778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75000" y="2820555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3556000" y="2718955"/>
            <a:ext cx="120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额定转矩 (N.m)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203 ~ 400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3048000" y="3417455"/>
            <a:ext cx="1778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75000" y="3582555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3556000" y="3480955"/>
            <a:ext cx="120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输出转速 (rpm)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18 ~ 96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3048000" y="4179455"/>
            <a:ext cx="1778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75000" y="4344555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3556000" y="4242955"/>
            <a:ext cx="120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电机功率 (kW)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0.30 ~ 0.68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3048000" y="4941455"/>
            <a:ext cx="1778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75000" y="5839691"/>
            <a:ext cx="304800" cy="3048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3556000" y="5738091"/>
            <a:ext cx="120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连接法兰规格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F14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5080000" y="1905000"/>
            <a:ext cx="2032000" cy="4560454"/>
          </a:xfrm>
          <a:prstGeom prst="roundRect">
            <a:avLst>
              <a:gd name="adj" fmla="val 7500"/>
            </a:avLst>
          </a:prstGeom>
          <a:solidFill>
            <a:srgbClr val="1F2937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5080000" y="1905000"/>
            <a:ext cx="2032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5080000" y="21590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RAⅢ 30A/35A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5207000" y="2655455"/>
            <a:ext cx="1778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4000" y="2820555"/>
            <a:ext cx="304800" cy="304800"/>
          </a:xfrm>
          <a:prstGeom prst="rect">
            <a:avLst/>
          </a:prstGeom>
        </p:spPr>
      </p:pic>
      <p:sp>
        <p:nvSpPr>
          <p:cNvPr id="40" name="AutoShape 40"/>
          <p:cNvSpPr/>
          <p:nvPr/>
        </p:nvSpPr>
        <p:spPr>
          <a:xfrm>
            <a:off x="5715000" y="2718955"/>
            <a:ext cx="120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额定转矩 (N.m)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610 ~ 900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5207000" y="3417455"/>
            <a:ext cx="1778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4000" y="3582555"/>
            <a:ext cx="304800" cy="304800"/>
          </a:xfrm>
          <a:prstGeom prst="rect">
            <a:avLst/>
          </a:prstGeom>
        </p:spPr>
      </p:pic>
      <p:sp>
        <p:nvSpPr>
          <p:cNvPr id="43" name="AutoShape 43"/>
          <p:cNvSpPr/>
          <p:nvPr/>
        </p:nvSpPr>
        <p:spPr>
          <a:xfrm>
            <a:off x="5715000" y="3480955"/>
            <a:ext cx="120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输出转速 (rpm)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18 ~ 144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5207000" y="4179455"/>
            <a:ext cx="1778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5" name="Picture 4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34000" y="4344555"/>
            <a:ext cx="304800" cy="304800"/>
          </a:xfrm>
          <a:prstGeom prst="rect">
            <a:avLst/>
          </a:prstGeom>
        </p:spPr>
      </p:pic>
      <p:sp>
        <p:nvSpPr>
          <p:cNvPr id="46" name="AutoShape 46"/>
          <p:cNvSpPr/>
          <p:nvPr/>
        </p:nvSpPr>
        <p:spPr>
          <a:xfrm>
            <a:off x="5715000" y="4242955"/>
            <a:ext cx="120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电机功率 (kW)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0.90 ~ 2.1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5207000" y="4941455"/>
            <a:ext cx="1778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334000" y="5839691"/>
            <a:ext cx="304800" cy="304800"/>
          </a:xfrm>
          <a:prstGeom prst="rect">
            <a:avLst/>
          </a:prstGeom>
        </p:spPr>
      </p:pic>
      <p:sp>
        <p:nvSpPr>
          <p:cNvPr id="49" name="AutoShape 49"/>
          <p:cNvSpPr/>
          <p:nvPr/>
        </p:nvSpPr>
        <p:spPr>
          <a:xfrm>
            <a:off x="5715000" y="5738091"/>
            <a:ext cx="120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连接法兰规格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F16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7239000" y="1905000"/>
            <a:ext cx="2032000" cy="4560454"/>
          </a:xfrm>
          <a:prstGeom prst="roundRect">
            <a:avLst>
              <a:gd name="adj" fmla="val 7500"/>
            </a:avLst>
          </a:prstGeom>
          <a:solidFill>
            <a:srgbClr val="1F2937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" name="AutoShape 51"/>
          <p:cNvSpPr/>
          <p:nvPr/>
        </p:nvSpPr>
        <p:spPr>
          <a:xfrm>
            <a:off x="7239000" y="1905000"/>
            <a:ext cx="2032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" name="AutoShape 52"/>
          <p:cNvSpPr/>
          <p:nvPr/>
        </p:nvSpPr>
        <p:spPr>
          <a:xfrm>
            <a:off x="7239000" y="21590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RAⅢ 40A/70A/90A</a:t>
            </a:r>
            <a:endParaRPr lang="en-US" sz="1100"/>
          </a:p>
        </p:txBody>
      </p:sp>
      <p:sp>
        <p:nvSpPr>
          <p:cNvPr id="53" name="AutoShape 53"/>
          <p:cNvSpPr/>
          <p:nvPr/>
        </p:nvSpPr>
        <p:spPr>
          <a:xfrm>
            <a:off x="7366000" y="2655455"/>
            <a:ext cx="1778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4" name="Picture 5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93000" y="2820555"/>
            <a:ext cx="304800" cy="304800"/>
          </a:xfrm>
          <a:prstGeom prst="rect">
            <a:avLst/>
          </a:prstGeom>
        </p:spPr>
      </p:pic>
      <p:sp>
        <p:nvSpPr>
          <p:cNvPr id="55" name="AutoShape 55"/>
          <p:cNvSpPr/>
          <p:nvPr/>
        </p:nvSpPr>
        <p:spPr>
          <a:xfrm>
            <a:off x="7874000" y="2718955"/>
            <a:ext cx="120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 dirty="0" err="1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额定转矩</a:t>
            </a:r>
            <a:r>
              <a:rPr lang="en-US" sz="1000" b="0" i="0" u="none" strike="noStrike" dirty="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en-US" sz="1000" b="0" i="0" u="none" strike="noStrike" dirty="0" err="1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N.m</a:t>
            </a:r>
            <a:r>
              <a:rPr lang="en-US" sz="1000" b="0" i="0" u="none" strike="noStrike" dirty="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 dirty="0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1020 ~ 2030</a:t>
            </a:r>
            <a:endParaRPr lang="en-US" sz="1100" dirty="0"/>
          </a:p>
        </p:txBody>
      </p:sp>
      <p:sp>
        <p:nvSpPr>
          <p:cNvPr id="56" name="AutoShape 56"/>
          <p:cNvSpPr/>
          <p:nvPr/>
        </p:nvSpPr>
        <p:spPr>
          <a:xfrm>
            <a:off x="7366000" y="3417455"/>
            <a:ext cx="1778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7" name="Picture 5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93000" y="3582555"/>
            <a:ext cx="304800" cy="304800"/>
          </a:xfrm>
          <a:prstGeom prst="rect">
            <a:avLst/>
          </a:prstGeom>
        </p:spPr>
      </p:pic>
      <p:sp>
        <p:nvSpPr>
          <p:cNvPr id="58" name="AutoShape 58"/>
          <p:cNvSpPr/>
          <p:nvPr/>
        </p:nvSpPr>
        <p:spPr>
          <a:xfrm>
            <a:off x="7874000" y="3480955"/>
            <a:ext cx="120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输出转速 (rpm)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18 ~ 144</a:t>
            </a:r>
            <a:endParaRPr lang="en-US" sz="1100"/>
          </a:p>
        </p:txBody>
      </p:sp>
      <p:sp>
        <p:nvSpPr>
          <p:cNvPr id="59" name="AutoShape 59"/>
          <p:cNvSpPr/>
          <p:nvPr/>
        </p:nvSpPr>
        <p:spPr>
          <a:xfrm>
            <a:off x="7366000" y="4179455"/>
            <a:ext cx="1778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0" name="Picture 6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93000" y="4344555"/>
            <a:ext cx="304800" cy="304800"/>
          </a:xfrm>
          <a:prstGeom prst="rect">
            <a:avLst/>
          </a:prstGeom>
        </p:spPr>
      </p:pic>
      <p:sp>
        <p:nvSpPr>
          <p:cNvPr id="61" name="AutoShape 61"/>
          <p:cNvSpPr/>
          <p:nvPr/>
        </p:nvSpPr>
        <p:spPr>
          <a:xfrm>
            <a:off x="7874000" y="4242955"/>
            <a:ext cx="120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电机功率 (kW)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2.1 ~ 7.5</a:t>
            </a:r>
            <a:endParaRPr lang="en-US" sz="1100"/>
          </a:p>
        </p:txBody>
      </p:sp>
      <p:sp>
        <p:nvSpPr>
          <p:cNvPr id="62" name="AutoShape 62"/>
          <p:cNvSpPr/>
          <p:nvPr/>
        </p:nvSpPr>
        <p:spPr>
          <a:xfrm>
            <a:off x="7366000" y="4941455"/>
            <a:ext cx="1778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3" name="Picture 6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493000" y="5839691"/>
            <a:ext cx="304800" cy="304800"/>
          </a:xfrm>
          <a:prstGeom prst="rect">
            <a:avLst/>
          </a:prstGeom>
        </p:spPr>
      </p:pic>
      <p:sp>
        <p:nvSpPr>
          <p:cNvPr id="64" name="AutoShape 64"/>
          <p:cNvSpPr/>
          <p:nvPr/>
        </p:nvSpPr>
        <p:spPr>
          <a:xfrm>
            <a:off x="7874000" y="5738091"/>
            <a:ext cx="120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 dirty="0" err="1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连接法兰规格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 dirty="0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F25</a:t>
            </a:r>
            <a:r>
              <a:rPr lang="en-US" altLang="zh-CN" sz="1100" b="1" i="0" u="none" strike="noStrike" dirty="0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 / F30</a:t>
            </a:r>
            <a:endParaRPr lang="en-US" sz="1100" dirty="0"/>
          </a:p>
        </p:txBody>
      </p:sp>
      <p:sp>
        <p:nvSpPr>
          <p:cNvPr id="65" name="AutoShape 65"/>
          <p:cNvSpPr/>
          <p:nvPr/>
        </p:nvSpPr>
        <p:spPr>
          <a:xfrm>
            <a:off x="9398000" y="1905000"/>
            <a:ext cx="2032000" cy="4560454"/>
          </a:xfrm>
          <a:prstGeom prst="roundRect">
            <a:avLst>
              <a:gd name="adj" fmla="val 7500"/>
            </a:avLst>
          </a:prstGeom>
          <a:solidFill>
            <a:srgbClr val="1F2937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" name="AutoShape 66"/>
          <p:cNvSpPr/>
          <p:nvPr/>
        </p:nvSpPr>
        <p:spPr>
          <a:xfrm>
            <a:off x="9398000" y="1905000"/>
            <a:ext cx="2032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" name="AutoShape 67"/>
          <p:cNvSpPr/>
          <p:nvPr/>
        </p:nvSpPr>
        <p:spPr>
          <a:xfrm>
            <a:off x="9398000" y="21590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RAⅢ 95A</a:t>
            </a:r>
            <a:endParaRPr lang="en-US" sz="1100"/>
          </a:p>
        </p:txBody>
      </p:sp>
      <p:sp>
        <p:nvSpPr>
          <p:cNvPr id="68" name="AutoShape 68"/>
          <p:cNvSpPr/>
          <p:nvPr/>
        </p:nvSpPr>
        <p:spPr>
          <a:xfrm>
            <a:off x="9525000" y="2655455"/>
            <a:ext cx="1778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9" name="Picture 6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52000" y="2820555"/>
            <a:ext cx="304800" cy="304800"/>
          </a:xfrm>
          <a:prstGeom prst="rect">
            <a:avLst/>
          </a:prstGeom>
        </p:spPr>
      </p:pic>
      <p:sp>
        <p:nvSpPr>
          <p:cNvPr id="70" name="AutoShape 70"/>
          <p:cNvSpPr/>
          <p:nvPr/>
        </p:nvSpPr>
        <p:spPr>
          <a:xfrm>
            <a:off x="10033000" y="2718955"/>
            <a:ext cx="120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 dirty="0" err="1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额定转矩</a:t>
            </a:r>
            <a:r>
              <a:rPr lang="en-US" sz="1000" b="0" i="0" u="none" strike="noStrike" dirty="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en-US" sz="1000" b="0" i="0" u="none" strike="noStrike" dirty="0" err="1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N.m</a:t>
            </a:r>
            <a:r>
              <a:rPr lang="en-US" sz="1000" b="0" i="0" u="none" strike="noStrike" dirty="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altLang="zh-CN" sz="1200" b="1" i="0" u="none" strike="noStrike" dirty="0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2000 ~ </a:t>
            </a:r>
            <a:r>
              <a:rPr lang="en-US" sz="1200" b="1" i="0" u="none" strike="noStrike" dirty="0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3000</a:t>
            </a:r>
            <a:endParaRPr lang="en-US" sz="1100" dirty="0"/>
          </a:p>
        </p:txBody>
      </p:sp>
      <p:sp>
        <p:nvSpPr>
          <p:cNvPr id="71" name="AutoShape 71"/>
          <p:cNvSpPr/>
          <p:nvPr/>
        </p:nvSpPr>
        <p:spPr>
          <a:xfrm>
            <a:off x="9525000" y="3417455"/>
            <a:ext cx="1778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2" name="Picture 7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52000" y="3582555"/>
            <a:ext cx="304800" cy="304800"/>
          </a:xfrm>
          <a:prstGeom prst="rect">
            <a:avLst/>
          </a:prstGeom>
        </p:spPr>
      </p:pic>
      <p:sp>
        <p:nvSpPr>
          <p:cNvPr id="73" name="AutoShape 73"/>
          <p:cNvSpPr/>
          <p:nvPr/>
        </p:nvSpPr>
        <p:spPr>
          <a:xfrm>
            <a:off x="10033000" y="3480955"/>
            <a:ext cx="120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 dirty="0" err="1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输出转速</a:t>
            </a:r>
            <a:r>
              <a:rPr lang="en-US" sz="1000" b="0" i="0" u="none" strike="noStrike" dirty="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 (rpm)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 dirty="0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18 ~ 144</a:t>
            </a:r>
            <a:endParaRPr lang="en-US" sz="1100" dirty="0"/>
          </a:p>
        </p:txBody>
      </p:sp>
      <p:sp>
        <p:nvSpPr>
          <p:cNvPr id="74" name="AutoShape 74"/>
          <p:cNvSpPr/>
          <p:nvPr/>
        </p:nvSpPr>
        <p:spPr>
          <a:xfrm>
            <a:off x="9525000" y="4179455"/>
            <a:ext cx="1778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5" name="Picture 7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52000" y="4344555"/>
            <a:ext cx="304800" cy="304800"/>
          </a:xfrm>
          <a:prstGeom prst="rect">
            <a:avLst/>
          </a:prstGeom>
        </p:spPr>
      </p:pic>
      <p:sp>
        <p:nvSpPr>
          <p:cNvPr id="76" name="AutoShape 76"/>
          <p:cNvSpPr/>
          <p:nvPr/>
        </p:nvSpPr>
        <p:spPr>
          <a:xfrm>
            <a:off x="10033000" y="4242955"/>
            <a:ext cx="120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 dirty="0" err="1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电机功率</a:t>
            </a:r>
            <a:r>
              <a:rPr lang="en-US" sz="1000" b="0" i="0" u="none" strike="noStrike" dirty="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 (kW)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altLang="zh-CN" sz="1200" b="1" i="0" u="none" strike="noStrike" dirty="0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5.5 ~ </a:t>
            </a:r>
            <a:r>
              <a:rPr lang="en-US" sz="1200" b="1" i="0" u="none" strike="noStrike" dirty="0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7.5</a:t>
            </a:r>
            <a:endParaRPr lang="en-US" sz="1100" dirty="0"/>
          </a:p>
        </p:txBody>
      </p:sp>
      <p:sp>
        <p:nvSpPr>
          <p:cNvPr id="77" name="AutoShape 77"/>
          <p:cNvSpPr/>
          <p:nvPr/>
        </p:nvSpPr>
        <p:spPr>
          <a:xfrm>
            <a:off x="9525000" y="4941455"/>
            <a:ext cx="1778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8" name="Picture 7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52000" y="5839691"/>
            <a:ext cx="304800" cy="304800"/>
          </a:xfrm>
          <a:prstGeom prst="rect">
            <a:avLst/>
          </a:prstGeom>
        </p:spPr>
      </p:pic>
      <p:sp>
        <p:nvSpPr>
          <p:cNvPr id="79" name="AutoShape 79"/>
          <p:cNvSpPr/>
          <p:nvPr/>
        </p:nvSpPr>
        <p:spPr>
          <a:xfrm>
            <a:off x="10033000" y="5738091"/>
            <a:ext cx="120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 dirty="0" err="1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连接法兰规格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 dirty="0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F25 / F30</a:t>
            </a:r>
            <a:endParaRPr lang="en-US" sz="1100" dirty="0"/>
          </a:p>
        </p:txBody>
      </p:sp>
      <p:sp>
        <p:nvSpPr>
          <p:cNvPr id="80" name="AutoShape 17">
            <a:extLst>
              <a:ext uri="{FF2B5EF4-FFF2-40B4-BE49-F238E27FC236}">
                <a16:creationId xmlns:a16="http://schemas.microsoft.com/office/drawing/2014/main" id="{4DF4077C-A999-7594-F242-1CD68D97ED55}"/>
              </a:ext>
            </a:extLst>
          </p:cNvPr>
          <p:cNvSpPr/>
          <p:nvPr/>
        </p:nvSpPr>
        <p:spPr>
          <a:xfrm>
            <a:off x="889000" y="5689600"/>
            <a:ext cx="1778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" name="AutoShape 17">
            <a:extLst>
              <a:ext uri="{FF2B5EF4-FFF2-40B4-BE49-F238E27FC236}">
                <a16:creationId xmlns:a16="http://schemas.microsoft.com/office/drawing/2014/main" id="{57ABC808-3BE6-AD1A-C912-7F3410DDF74C}"/>
              </a:ext>
            </a:extLst>
          </p:cNvPr>
          <p:cNvSpPr/>
          <p:nvPr/>
        </p:nvSpPr>
        <p:spPr>
          <a:xfrm>
            <a:off x="3048000" y="5689600"/>
            <a:ext cx="1778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" name="AutoShape 17">
            <a:extLst>
              <a:ext uri="{FF2B5EF4-FFF2-40B4-BE49-F238E27FC236}">
                <a16:creationId xmlns:a16="http://schemas.microsoft.com/office/drawing/2014/main" id="{E73411A3-35D4-A3D2-3C78-CF19904C54C5}"/>
              </a:ext>
            </a:extLst>
          </p:cNvPr>
          <p:cNvSpPr/>
          <p:nvPr/>
        </p:nvSpPr>
        <p:spPr>
          <a:xfrm>
            <a:off x="5207000" y="5689600"/>
            <a:ext cx="1778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" name="AutoShape 17">
            <a:extLst>
              <a:ext uri="{FF2B5EF4-FFF2-40B4-BE49-F238E27FC236}">
                <a16:creationId xmlns:a16="http://schemas.microsoft.com/office/drawing/2014/main" id="{8EAF1E97-AD6D-FE5E-34ED-D4BE169590C4}"/>
              </a:ext>
            </a:extLst>
          </p:cNvPr>
          <p:cNvSpPr/>
          <p:nvPr/>
        </p:nvSpPr>
        <p:spPr>
          <a:xfrm>
            <a:off x="7366000" y="5684982"/>
            <a:ext cx="1778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" name="AutoShape 17">
            <a:extLst>
              <a:ext uri="{FF2B5EF4-FFF2-40B4-BE49-F238E27FC236}">
                <a16:creationId xmlns:a16="http://schemas.microsoft.com/office/drawing/2014/main" id="{75CCA2CE-4EF1-38A4-9F83-7D4163F3D496}"/>
              </a:ext>
            </a:extLst>
          </p:cNvPr>
          <p:cNvSpPr/>
          <p:nvPr/>
        </p:nvSpPr>
        <p:spPr>
          <a:xfrm>
            <a:off x="9528464" y="5691909"/>
            <a:ext cx="1778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" name="AutoShape 16">
            <a:extLst>
              <a:ext uri="{FF2B5EF4-FFF2-40B4-BE49-F238E27FC236}">
                <a16:creationId xmlns:a16="http://schemas.microsoft.com/office/drawing/2014/main" id="{723755D4-A424-3033-6F2F-E11C96223937}"/>
              </a:ext>
            </a:extLst>
          </p:cNvPr>
          <p:cNvSpPr/>
          <p:nvPr/>
        </p:nvSpPr>
        <p:spPr>
          <a:xfrm>
            <a:off x="1366982" y="4998027"/>
            <a:ext cx="120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000" dirty="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额定电流</a:t>
            </a:r>
            <a:r>
              <a:rPr lang="en-US" sz="1000" b="0" i="0" u="none" strike="noStrike" dirty="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 (A)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 dirty="0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0.45 ~ 2.1</a:t>
            </a:r>
            <a:endParaRPr lang="en-US" sz="1100" dirty="0"/>
          </a:p>
        </p:txBody>
      </p:sp>
      <p:sp>
        <p:nvSpPr>
          <p:cNvPr id="88" name="AutoShape 10">
            <a:extLst>
              <a:ext uri="{FF2B5EF4-FFF2-40B4-BE49-F238E27FC236}">
                <a16:creationId xmlns:a16="http://schemas.microsoft.com/office/drawing/2014/main" id="{B64B9553-6E22-6B02-206B-084967C00719}"/>
              </a:ext>
            </a:extLst>
          </p:cNvPr>
          <p:cNvSpPr/>
          <p:nvPr/>
        </p:nvSpPr>
        <p:spPr>
          <a:xfrm>
            <a:off x="1017211" y="5166121"/>
            <a:ext cx="250641" cy="261866"/>
          </a:xfrm>
          <a:prstGeom prst="ellipse">
            <a:avLst/>
          </a:prstGeom>
          <a:solidFill>
            <a:srgbClr val="23BE8B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9" name="Picture 11">
            <a:extLst>
              <a:ext uri="{FF2B5EF4-FFF2-40B4-BE49-F238E27FC236}">
                <a16:creationId xmlns:a16="http://schemas.microsoft.com/office/drawing/2014/main" id="{575B5077-9331-CD02-484B-3A36E399A97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1598" y="5166121"/>
            <a:ext cx="261866" cy="261866"/>
          </a:xfrm>
          <a:prstGeom prst="rect">
            <a:avLst/>
          </a:prstGeom>
        </p:spPr>
      </p:pic>
      <p:sp>
        <p:nvSpPr>
          <p:cNvPr id="92" name="AutoShape 16">
            <a:extLst>
              <a:ext uri="{FF2B5EF4-FFF2-40B4-BE49-F238E27FC236}">
                <a16:creationId xmlns:a16="http://schemas.microsoft.com/office/drawing/2014/main" id="{4BD39E24-8F4F-0A46-1805-EFBFBE175F5B}"/>
              </a:ext>
            </a:extLst>
          </p:cNvPr>
          <p:cNvSpPr/>
          <p:nvPr/>
        </p:nvSpPr>
        <p:spPr>
          <a:xfrm>
            <a:off x="3535907" y="4998027"/>
            <a:ext cx="120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000" dirty="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额定电流</a:t>
            </a:r>
            <a:r>
              <a:rPr lang="en-US" sz="1000" b="0" i="0" u="none" strike="noStrike" dirty="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 (A)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 dirty="0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2.3 ~ 5.5</a:t>
            </a:r>
            <a:endParaRPr lang="en-US" sz="1100" dirty="0"/>
          </a:p>
        </p:txBody>
      </p:sp>
      <p:sp>
        <p:nvSpPr>
          <p:cNvPr id="93" name="AutoShape 10">
            <a:extLst>
              <a:ext uri="{FF2B5EF4-FFF2-40B4-BE49-F238E27FC236}">
                <a16:creationId xmlns:a16="http://schemas.microsoft.com/office/drawing/2014/main" id="{7F043057-AF46-E7DF-6CD3-B3AEF9DDBDD8}"/>
              </a:ext>
            </a:extLst>
          </p:cNvPr>
          <p:cNvSpPr/>
          <p:nvPr/>
        </p:nvSpPr>
        <p:spPr>
          <a:xfrm>
            <a:off x="3186136" y="5166121"/>
            <a:ext cx="250641" cy="261866"/>
          </a:xfrm>
          <a:prstGeom prst="ellipse">
            <a:avLst/>
          </a:prstGeom>
          <a:solidFill>
            <a:srgbClr val="23BE8B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4" name="Picture 11">
            <a:extLst>
              <a:ext uri="{FF2B5EF4-FFF2-40B4-BE49-F238E27FC236}">
                <a16:creationId xmlns:a16="http://schemas.microsoft.com/office/drawing/2014/main" id="{BCDCD38A-5BE1-05DE-ED04-1636AA7E083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80523" y="5166121"/>
            <a:ext cx="261866" cy="261866"/>
          </a:xfrm>
          <a:prstGeom prst="rect">
            <a:avLst/>
          </a:prstGeom>
        </p:spPr>
      </p:pic>
      <p:sp>
        <p:nvSpPr>
          <p:cNvPr id="95" name="AutoShape 16">
            <a:extLst>
              <a:ext uri="{FF2B5EF4-FFF2-40B4-BE49-F238E27FC236}">
                <a16:creationId xmlns:a16="http://schemas.microsoft.com/office/drawing/2014/main" id="{53CB1ECD-A57E-5F39-AA08-7162B2B2B043}"/>
              </a:ext>
            </a:extLst>
          </p:cNvPr>
          <p:cNvSpPr/>
          <p:nvPr/>
        </p:nvSpPr>
        <p:spPr>
          <a:xfrm>
            <a:off x="5689384" y="5005592"/>
            <a:ext cx="120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000" dirty="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额定电流</a:t>
            </a:r>
            <a:r>
              <a:rPr lang="en-US" sz="1000" b="0" i="0" u="none" strike="noStrike" dirty="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 (A)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 dirty="0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6 ~ 11</a:t>
            </a:r>
            <a:endParaRPr lang="en-US" sz="1100" dirty="0"/>
          </a:p>
        </p:txBody>
      </p:sp>
      <p:sp>
        <p:nvSpPr>
          <p:cNvPr id="96" name="AutoShape 10">
            <a:extLst>
              <a:ext uri="{FF2B5EF4-FFF2-40B4-BE49-F238E27FC236}">
                <a16:creationId xmlns:a16="http://schemas.microsoft.com/office/drawing/2014/main" id="{A427051D-5CB6-A908-886C-71FD0C4B6671}"/>
              </a:ext>
            </a:extLst>
          </p:cNvPr>
          <p:cNvSpPr/>
          <p:nvPr/>
        </p:nvSpPr>
        <p:spPr>
          <a:xfrm>
            <a:off x="5339613" y="5173686"/>
            <a:ext cx="250641" cy="261866"/>
          </a:xfrm>
          <a:prstGeom prst="ellipse">
            <a:avLst/>
          </a:prstGeom>
          <a:solidFill>
            <a:srgbClr val="23BE8B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7" name="Picture 11">
            <a:extLst>
              <a:ext uri="{FF2B5EF4-FFF2-40B4-BE49-F238E27FC236}">
                <a16:creationId xmlns:a16="http://schemas.microsoft.com/office/drawing/2014/main" id="{288CA564-6730-A2BF-CDCF-3DE0D5CBBF9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334000" y="5173686"/>
            <a:ext cx="261866" cy="261866"/>
          </a:xfrm>
          <a:prstGeom prst="rect">
            <a:avLst/>
          </a:prstGeom>
        </p:spPr>
      </p:pic>
      <p:sp>
        <p:nvSpPr>
          <p:cNvPr id="98" name="AutoShape 16">
            <a:extLst>
              <a:ext uri="{FF2B5EF4-FFF2-40B4-BE49-F238E27FC236}">
                <a16:creationId xmlns:a16="http://schemas.microsoft.com/office/drawing/2014/main" id="{5102B056-37B6-308C-A6C4-A8C722CA2AEA}"/>
              </a:ext>
            </a:extLst>
          </p:cNvPr>
          <p:cNvSpPr/>
          <p:nvPr/>
        </p:nvSpPr>
        <p:spPr>
          <a:xfrm>
            <a:off x="7845588" y="4946021"/>
            <a:ext cx="120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000" dirty="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额定电流</a:t>
            </a:r>
            <a:r>
              <a:rPr lang="en-US" sz="1000" b="0" i="0" u="none" strike="noStrike" dirty="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 (A)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 dirty="0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11 ~ 35</a:t>
            </a:r>
            <a:endParaRPr lang="en-US" sz="1100" dirty="0"/>
          </a:p>
        </p:txBody>
      </p:sp>
      <p:sp>
        <p:nvSpPr>
          <p:cNvPr id="99" name="AutoShape 10">
            <a:extLst>
              <a:ext uri="{FF2B5EF4-FFF2-40B4-BE49-F238E27FC236}">
                <a16:creationId xmlns:a16="http://schemas.microsoft.com/office/drawing/2014/main" id="{770AF68D-E98B-8F30-0B60-C9E7774A8838}"/>
              </a:ext>
            </a:extLst>
          </p:cNvPr>
          <p:cNvSpPr/>
          <p:nvPr/>
        </p:nvSpPr>
        <p:spPr>
          <a:xfrm>
            <a:off x="7495817" y="5114115"/>
            <a:ext cx="250641" cy="261866"/>
          </a:xfrm>
          <a:prstGeom prst="ellipse">
            <a:avLst/>
          </a:prstGeom>
          <a:solidFill>
            <a:srgbClr val="23BE8B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0" name="Picture 11">
            <a:extLst>
              <a:ext uri="{FF2B5EF4-FFF2-40B4-BE49-F238E27FC236}">
                <a16:creationId xmlns:a16="http://schemas.microsoft.com/office/drawing/2014/main" id="{AD0EE140-57FC-50B9-AD5F-4F75E909AC6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490204" y="5114115"/>
            <a:ext cx="261866" cy="261866"/>
          </a:xfrm>
          <a:prstGeom prst="rect">
            <a:avLst/>
          </a:prstGeom>
        </p:spPr>
      </p:pic>
      <p:sp>
        <p:nvSpPr>
          <p:cNvPr id="101" name="AutoShape 16">
            <a:extLst>
              <a:ext uri="{FF2B5EF4-FFF2-40B4-BE49-F238E27FC236}">
                <a16:creationId xmlns:a16="http://schemas.microsoft.com/office/drawing/2014/main" id="{B74E01C3-2E34-B1DF-B7AD-B2E79B522466}"/>
              </a:ext>
            </a:extLst>
          </p:cNvPr>
          <p:cNvSpPr/>
          <p:nvPr/>
        </p:nvSpPr>
        <p:spPr>
          <a:xfrm>
            <a:off x="10001771" y="4972063"/>
            <a:ext cx="120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000" dirty="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额定电流</a:t>
            </a:r>
            <a:r>
              <a:rPr lang="en-US" sz="1000" b="0" i="0" u="none" strike="noStrike" dirty="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 (A)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 dirty="0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22 ~ 35</a:t>
            </a:r>
            <a:endParaRPr lang="en-US" sz="1100" dirty="0"/>
          </a:p>
        </p:txBody>
      </p:sp>
      <p:sp>
        <p:nvSpPr>
          <p:cNvPr id="102" name="AutoShape 10">
            <a:extLst>
              <a:ext uri="{FF2B5EF4-FFF2-40B4-BE49-F238E27FC236}">
                <a16:creationId xmlns:a16="http://schemas.microsoft.com/office/drawing/2014/main" id="{BC62DD60-12AC-F382-2E10-2D5E9EB15CF7}"/>
              </a:ext>
            </a:extLst>
          </p:cNvPr>
          <p:cNvSpPr/>
          <p:nvPr/>
        </p:nvSpPr>
        <p:spPr>
          <a:xfrm>
            <a:off x="9652000" y="5140157"/>
            <a:ext cx="250641" cy="261866"/>
          </a:xfrm>
          <a:prstGeom prst="ellipse">
            <a:avLst/>
          </a:prstGeom>
          <a:solidFill>
            <a:srgbClr val="23BE8B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3" name="Picture 11">
            <a:extLst>
              <a:ext uri="{FF2B5EF4-FFF2-40B4-BE49-F238E27FC236}">
                <a16:creationId xmlns:a16="http://schemas.microsoft.com/office/drawing/2014/main" id="{DFAC3B75-0291-D616-DEF8-1DCDC77F02A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646387" y="5140157"/>
            <a:ext cx="261866" cy="26186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选型指南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33500"/>
            <a:ext cx="2415309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机械接口参数对照表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10668000" cy="2444750"/>
          </a:xfrm>
          <a:prstGeom prst="roundRect">
            <a:avLst>
              <a:gd name="adj" fmla="val 7058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984366"/>
              </p:ext>
            </p:extLst>
          </p:nvPr>
        </p:nvGraphicFramePr>
        <p:xfrm>
          <a:off x="1016000" y="2095499"/>
          <a:ext cx="10160000" cy="1720721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4609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电动装置型号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连接法兰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允许最大明阀杆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允许最大暗杆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设备净重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704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RAⅢ7A/11A/13A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F10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32mm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26mm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25kg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704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RAⅢ14A/15A/16A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F14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51mm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38mm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42kg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704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RAⅢ30A/35A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F16 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67mm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51mm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60kg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762000" y="4714875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4968875"/>
            <a:ext cx="762000" cy="7620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6500" y="5159375"/>
            <a:ext cx="381000" cy="381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2032000" y="4968875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推力型 (A型 / Z3型)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032000" y="5476875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专为</a:t>
            </a:r>
            <a:r>
              <a:rPr lang="en-US" sz="1200" b="1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明杆阀</a:t>
            </a: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设计（阀杆既转动又轴向移动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），</a:t>
            </a: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内置推力轴承可有效承受阀门产生的轴向反推力，确保长期稳定运行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6223000" y="4714875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477000" y="4968875"/>
            <a:ext cx="762000" cy="7620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7500" y="5159375"/>
            <a:ext cx="381000" cy="381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493000" y="4968875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非推力型 (B型 / B4型)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493000" y="5476875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适配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暗杆阀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或自带驱动螺母/齿轮箱的阀门。仅输出旋转力矩，结构紧凑，不承受轴向推力，传动效率更高。</a:t>
            </a:r>
            <a:endParaRPr lang="en-US" sz="1100"/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A58B79C4-7873-360B-CE6F-AF1B71FFEE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494643"/>
              </p:ext>
            </p:extLst>
          </p:nvPr>
        </p:nvGraphicFramePr>
        <p:xfrm>
          <a:off x="1016000" y="3766895"/>
          <a:ext cx="10160000" cy="398704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727821814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3019704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7437592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73937932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42491022"/>
                    </a:ext>
                  </a:extLst>
                </a:gridCol>
              </a:tblGrid>
              <a:tr h="398704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RAⅢ40A/70A/95A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2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F25/F30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83mm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73mm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235kg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743046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05 安装与调试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334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1F2937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714500"/>
            <a:ext cx="609600" cy="6096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4100" y="18161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1714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01.</a:t>
            </a: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驱动套预制加工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778000" y="22225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1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推力型：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拆套加工内螺纹，清洗注脂后装回。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1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非推力型：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拆套加工轴孔/键槽，装回涂抹润滑脂。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3365500"/>
            <a:ext cx="5334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1F2937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952500" y="3556000"/>
            <a:ext cx="609600" cy="6096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4100" y="36576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778000" y="3556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02.</a:t>
            </a: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阀门主体安装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778000" y="4064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100" b="1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明杆阀：</a:t>
            </a: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挂手动档对准螺纹，转手轮贴合法兰后紧固螺栓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100" b="1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齿轮箱阀：</a:t>
            </a: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核对尺寸对准键槽，转手轮贴合后紧固螺栓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5207000"/>
            <a:ext cx="53340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1F2937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52500" y="5397500"/>
            <a:ext cx="609600" cy="6096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4100" y="54991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778000" y="5334000"/>
            <a:ext cx="406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03.</a:t>
            </a:r>
            <a:r>
              <a:rPr lang="en-US" sz="15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关键安装注意事项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1778000" y="57150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手轮密封需旋紧</a:t>
            </a:r>
            <a:r>
              <a:rPr lang="en-US" sz="10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| </a:t>
            </a:r>
            <a:r>
              <a:rPr lang="en-US" sz="10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接地端子必须可靠接地</a:t>
            </a:r>
            <a:r>
              <a:rPr lang="en-US" sz="10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| </a:t>
            </a:r>
            <a:r>
              <a:rPr lang="en-US" sz="10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根据方向设置屏幕正反显示</a:t>
            </a:r>
            <a:endParaRPr lang="en-US" sz="1100" dirty="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rcRect t="12500" b="12500"/>
          <a:stretch>
            <a:fillRect/>
          </a:stretch>
        </p:blipFill>
        <p:spPr>
          <a:xfrm>
            <a:off x="6350000" y="1524000"/>
            <a:ext cx="4953000" cy="4953000"/>
          </a:xfrm>
          <a:prstGeom prst="roundRect">
            <a:avLst>
              <a:gd name="adj" fmla="val 4102"/>
            </a:avLst>
          </a:prstGeom>
          <a:noFill/>
          <a:ln w="25400" cap="flat" cmpd="sng">
            <a:solidFill>
              <a:srgbClr val="10B981">
                <a:alpha val="100000"/>
              </a:srgbClr>
            </a:solidFill>
            <a:prstDash val="solid"/>
            <a:round/>
          </a:ln>
          <a:effectLst>
            <a:outerShdw blurRad="203200" dist="76200" dir="5400000" algn="tl" rotWithShape="0">
              <a:srgbClr val="000000">
                <a:alpha val="18000"/>
              </a:srgbClr>
            </a:outerShdw>
          </a:effectLst>
        </p:spPr>
      </p:pic>
      <p:pic>
        <p:nvPicPr>
          <p:cNvPr id="21" name="图片 20" descr="图片包含 建筑, 室内, 火车, 平台&#10;&#10;描述已自动生成">
            <a:extLst>
              <a:ext uri="{FF2B5EF4-FFF2-40B4-BE49-F238E27FC236}">
                <a16:creationId xmlns:a16="http://schemas.microsoft.com/office/drawing/2014/main" id="{278D4E7B-1107-FD40-2402-4906085A5A1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0000" y="1524000"/>
            <a:ext cx="4953000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05 安装与调试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调试准备与核心出厂默认值设定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556000" cy="4191000"/>
          </a:xfrm>
          <a:prstGeom prst="roundRect">
            <a:avLst>
              <a:gd name="adj" fmla="val 571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5334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非侵入式红外调试终端示意</a:t>
            </a:r>
            <a:br>
              <a:rPr 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（</a:t>
            </a:r>
            <a:r>
              <a:rPr lang="en-US" sz="12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执行机构与设定器</a:t>
            </a:r>
            <a:r>
              <a:rPr 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4572000" y="1905000"/>
            <a:ext cx="6858000" cy="1206500"/>
          </a:xfrm>
          <a:prstGeom prst="roundRect">
            <a:avLst>
              <a:gd name="adj" fmla="val 1684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26000" y="2159000"/>
            <a:ext cx="558800" cy="558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588000" y="2032000"/>
            <a:ext cx="558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专用调试工具配置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588000" y="2438400"/>
            <a:ext cx="546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使用本安型红外设定器（防爆标志</a:t>
            </a:r>
            <a:r>
              <a:rPr lang="en-US" sz="1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ExiaⅡCT4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），操作距离需 ≤ 1米，需将红外发射头准确对准执行机构显示窗。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0" y="3302000"/>
            <a:ext cx="6858000" cy="1270000"/>
          </a:xfrm>
          <a:prstGeom prst="roundRect">
            <a:avLst>
              <a:gd name="adj" fmla="val 16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26000" y="3556000"/>
            <a:ext cx="558800" cy="558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588000" y="3429000"/>
            <a:ext cx="558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操作权限与互锁逻辑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588000" y="3835400"/>
            <a:ext cx="546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仅当方式旋钮置于</a:t>
            </a:r>
            <a:r>
              <a:rPr lang="en-US" sz="1200" b="1" i="0" u="none" strike="noStrike" dirty="0" err="1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「停止」</a:t>
            </a: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位置时，设定器操作有效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2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旋钮在远程位、电机运转中或停机1秒内，设定器指令均被屏蔽。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4572000" y="4762500"/>
            <a:ext cx="6858000" cy="1397000"/>
          </a:xfrm>
          <a:prstGeom prst="roundRect">
            <a:avLst>
              <a:gd name="adj" fmla="val 1454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826000" y="4953000"/>
            <a:ext cx="3048000" cy="1016000"/>
          </a:xfrm>
          <a:prstGeom prst="roundRect">
            <a:avLst>
              <a:gd name="adj" fmla="val 125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4953000" y="50546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关闭方向：</a:t>
            </a:r>
            <a:r>
              <a:rPr lang="en-US" sz="1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顺时针 (CW)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过矩保护：</a:t>
            </a:r>
            <a:r>
              <a:rPr lang="en-US" sz="1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关60% / 开80% (额定转矩)</a:t>
            </a:r>
          </a:p>
        </p:txBody>
      </p:sp>
      <p:sp>
        <p:nvSpPr>
          <p:cNvPr id="19" name="AutoShape 19"/>
          <p:cNvSpPr/>
          <p:nvPr/>
        </p:nvSpPr>
        <p:spPr>
          <a:xfrm>
            <a:off x="8001000" y="4953000"/>
            <a:ext cx="3048000" cy="1016000"/>
          </a:xfrm>
          <a:prstGeom prst="roundRect">
            <a:avLst>
              <a:gd name="adj" fmla="val 125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128000" y="50546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就地模式：</a:t>
            </a:r>
            <a:r>
              <a:rPr lang="en-US" sz="1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点动控制 (Jog)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出厂口令：</a:t>
            </a:r>
            <a:r>
              <a:rPr lang="en-US" sz="1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 (无需验证，直接进入)</a:t>
            </a:r>
          </a:p>
        </p:txBody>
      </p:sp>
      <p:pic>
        <p:nvPicPr>
          <p:cNvPr id="21" name="图片 20" descr="图片包含 前, 摩托车, 站, 消防栓&#10;&#10;描述已自动生成">
            <a:extLst>
              <a:ext uri="{FF2B5EF4-FFF2-40B4-BE49-F238E27FC236}">
                <a16:creationId xmlns:a16="http://schemas.microsoft.com/office/drawing/2014/main" id="{6018C193-ED2E-47F9-588A-59C30DAFC5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2687855"/>
            <a:ext cx="2280935" cy="1739900"/>
          </a:xfrm>
          <a:prstGeom prst="rect">
            <a:avLst/>
          </a:prstGeom>
        </p:spPr>
      </p:pic>
      <p:pic>
        <p:nvPicPr>
          <p:cNvPr id="23" name="图片 22" descr="图片包含 游戏机, 食物, 游戏, 球&#10;&#10;描述已自动生成">
            <a:extLst>
              <a:ext uri="{FF2B5EF4-FFF2-40B4-BE49-F238E27FC236}">
                <a16:creationId xmlns:a16="http://schemas.microsoft.com/office/drawing/2014/main" id="{C57C3E29-159A-A57C-1780-689D63D42D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380138">
            <a:off x="3205944" y="4005569"/>
            <a:ext cx="959181" cy="65140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05 安装与调试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4826000"/>
          </a:xfrm>
          <a:prstGeom prst="roundRect">
            <a:avLst>
              <a:gd name="adj" fmla="val 421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778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7526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一级设定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651000" y="21590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基础运行参数 · 核心必调项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291">
            <a:off x="1016009" y="259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794000"/>
            <a:ext cx="4699000" cy="889000"/>
          </a:xfrm>
          <a:prstGeom prst="roundRect">
            <a:avLst>
              <a:gd name="adj" fmla="val 1142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16000" y="2984500"/>
            <a:ext cx="50800" cy="508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206500" y="29210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841500" y="2921000"/>
            <a:ext cx="3683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关闭方向设定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841500" y="3238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设定关阀时输出轴旋转方向（顺时针/逆时针），确保机械动作逻辑正确。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3810000"/>
            <a:ext cx="4699000" cy="889000"/>
          </a:xfrm>
          <a:prstGeom prst="roundRect">
            <a:avLst>
              <a:gd name="adj" fmla="val 1142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16000" y="4000500"/>
            <a:ext cx="50800" cy="508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206500" y="39370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841500" y="3937000"/>
            <a:ext cx="3683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行程极限校准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1841500" y="4254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手动/电动调至全关/全开位，预留惰走过冲余量，确认并锁定限位开关。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4826000"/>
            <a:ext cx="4699000" cy="889000"/>
          </a:xfrm>
          <a:prstGeom prst="roundRect">
            <a:avLst>
              <a:gd name="adj" fmla="val 1142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1016000" y="5016500"/>
            <a:ext cx="50800" cy="508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1206500" y="49530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841500" y="4953000"/>
            <a:ext cx="3683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过矩与</a:t>
            </a:r>
            <a:r>
              <a:rPr lang="en-US" altLang="zh-CN" sz="13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限</a:t>
            </a:r>
            <a:r>
              <a:rPr lang="en-US" sz="13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位保护</a:t>
            </a:r>
            <a:endParaRPr 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1841500" y="5270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设定30%~100%额定转矩保护值，并配置限位停止或过矩停止的保护模式。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23000" y="1524000"/>
            <a:ext cx="5207000" cy="4826000"/>
          </a:xfrm>
          <a:prstGeom prst="roundRect">
            <a:avLst>
              <a:gd name="adj" fmla="val 421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1778000"/>
            <a:ext cx="457200" cy="4572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112000" y="17526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二级设定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112000" y="21590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控制逻辑参数 · 场景按需配置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9291">
            <a:off x="6477009" y="259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6477000" y="2794000"/>
            <a:ext cx="4699000" cy="762000"/>
          </a:xfrm>
          <a:prstGeom prst="roundRect">
            <a:avLst>
              <a:gd name="adj" fmla="val 13333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6477000" y="2921000"/>
            <a:ext cx="50800" cy="508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667500" y="29210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302500" y="2857500"/>
            <a:ext cx="368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状态输出：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自定义4路可编程继电器触点动作逻辑，适配外部监控。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477000" y="3683000"/>
            <a:ext cx="4699000" cy="762000"/>
          </a:xfrm>
          <a:prstGeom prst="roundRect">
            <a:avLst>
              <a:gd name="adj" fmla="val 13333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6477000" y="3810000"/>
            <a:ext cx="50800" cy="508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6667500" y="38100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7302500" y="3746500"/>
            <a:ext cx="368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控制类别：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配置就地/两线/比例调节/总线等多种控制模式。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6477000" y="4572000"/>
            <a:ext cx="4699000" cy="762000"/>
          </a:xfrm>
          <a:prstGeom prst="roundRect">
            <a:avLst>
              <a:gd name="adj" fmla="val 13333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6477000" y="4699000"/>
            <a:ext cx="50800" cy="508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AutoShape 39"/>
          <p:cNvSpPr/>
          <p:nvPr/>
        </p:nvSpPr>
        <p:spPr>
          <a:xfrm>
            <a:off x="6667500" y="46990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7302500" y="4635500"/>
            <a:ext cx="368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特别与反馈：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配置联锁/ESD紧急动作，完成4-20mA阀位/转矩反馈校准。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06 操作与维护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1F2937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3302000" cy="1016000"/>
          </a:xfrm>
          <a:prstGeom prst="roundRect">
            <a:avLst>
              <a:gd name="adj" fmla="val 15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752600"/>
            <a:ext cx="558800" cy="558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17145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手动操作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7940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适用场景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175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应对主电源掉电、控制电路失灵等紧急工况，保障阀门应急调节。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9370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核心步骤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318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旋钮置停止位 → 压手柄至手动 → 转手轮挂档 → 驱动阀门执行。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5215689"/>
            <a:ext cx="2794000" cy="508000"/>
          </a:xfrm>
          <a:prstGeom prst="roundRect">
            <a:avLst>
              <a:gd name="adj" fmla="val 15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143000" y="5279189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电机运转自动切回电动，建议挂锁锁定。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445000" y="1524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1F2937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445000" y="1524000"/>
            <a:ext cx="3302000" cy="1016000"/>
          </a:xfrm>
          <a:prstGeom prst="roundRect">
            <a:avLst>
              <a:gd name="adj" fmla="val 15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9000" y="1752600"/>
            <a:ext cx="558800" cy="558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461000" y="17145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就地操作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699000" y="27940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基本设定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699000" y="3175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将方式旋钮旋至</a:t>
            </a:r>
            <a:r>
              <a:rPr lang="en-US" sz="1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“就地”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位置，通过黑色物理旋钮直接控制设备。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699000" y="3937000"/>
            <a:ext cx="2794000" cy="825500"/>
          </a:xfrm>
          <a:prstGeom prst="roundRect">
            <a:avLst>
              <a:gd name="adj" fmla="val 12307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4826000" y="40386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点动模式 (Jog)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826000" y="4343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保持在开/关位执行，松开即刻停止。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699000" y="4953000"/>
            <a:ext cx="2794000" cy="825500"/>
          </a:xfrm>
          <a:prstGeom prst="roundRect">
            <a:avLst>
              <a:gd name="adj" fmla="val 12307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4826000" y="50546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保持模式 (Auto)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826000" y="5359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旋至目标位松开，设备持续动作直至到位。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128000" y="1524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1F2937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8128000" y="1524000"/>
            <a:ext cx="3302000" cy="1016000"/>
          </a:xfrm>
          <a:prstGeom prst="roundRect">
            <a:avLst>
              <a:gd name="adj" fmla="val 15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82000" y="1752600"/>
            <a:ext cx="558800" cy="558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9144000" y="17145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远程控制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382000" y="2794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将方式旋钮旋至</a:t>
            </a:r>
            <a:r>
              <a:rPr lang="en-US" sz="1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“远程”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位，接入外部信号实现自动化集成控制。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382000" y="3305342"/>
            <a:ext cx="2794000" cy="698500"/>
          </a:xfrm>
          <a:prstGeom prst="roundRect">
            <a:avLst>
              <a:gd name="adj" fmla="val 14545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8509000" y="3368842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远程开关量 (手动)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509000" y="3686342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接收干接点信号，实现远程点动/保持。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382000" y="4194342"/>
            <a:ext cx="2794000" cy="698500"/>
          </a:xfrm>
          <a:prstGeom prst="roundRect">
            <a:avLst>
              <a:gd name="adj" fmla="val 14545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8509000" y="4257842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4-20mA 模拟量 (自动)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8509000" y="4575342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根据电流信号大小，自动调节阀门开度。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8382000" y="5083342"/>
            <a:ext cx="2794000" cy="698500"/>
          </a:xfrm>
          <a:prstGeom prst="roundRect">
            <a:avLst>
              <a:gd name="adj" fmla="val 14545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8509000" y="5146842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现场总线控制 (集成)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8509000" y="5464342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MODBUS/Profibus等，数字化系统互联。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06 操作与维护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12962" b="12962"/>
          <a:stretch>
            <a:fillRect/>
          </a:stretch>
        </p:blipFill>
        <p:spPr>
          <a:xfrm>
            <a:off x="762000" y="1524000"/>
            <a:ext cx="3429000" cy="2540000"/>
          </a:xfrm>
          <a:prstGeom prst="roundRect">
            <a:avLst>
              <a:gd name="adj" fmla="val 600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191000"/>
            <a:ext cx="3429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419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4381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润滑油管理规范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48895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1" i="0" u="none" strike="noStrike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油品：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长城75W/90、美孚SAE80EP</a:t>
            </a:r>
            <a:endParaRPr lang="en-US" sz="1100" dirty="0"/>
          </a:p>
          <a:p>
            <a:pPr indent="0" algn="l">
              <a:lnSpc>
                <a:spcPct val="108333"/>
              </a:lnSpc>
            </a:pPr>
            <a:r>
              <a:rPr lang="en-US" sz="1100" b="1" i="0" u="none" strike="noStrike" dirty="0" err="1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周期：</a:t>
            </a: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首</a:t>
            </a:r>
            <a:r>
              <a:rPr lang="en-US" altLang="zh-CN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年</a:t>
            </a: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更换</a:t>
            </a:r>
            <a:r>
              <a:rPr lang="en-US" altLang="zh-CN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1次 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之后每</a:t>
            </a:r>
            <a:r>
              <a:rPr lang="zh-CN" alt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两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年</a:t>
            </a:r>
            <a:r>
              <a:rPr lang="en-US" altLang="zh-CN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换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1次</a:t>
            </a:r>
          </a:p>
          <a:p>
            <a:pPr indent="0" algn="l">
              <a:lnSpc>
                <a:spcPct val="108333"/>
              </a:lnSpc>
            </a:pPr>
            <a:r>
              <a:rPr lang="en-US" sz="1100" b="1" i="0" u="none" strike="noStrike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用量：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0.3L ~ 7.0L (</a:t>
            </a: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依型号而定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</a:p>
        </p:txBody>
      </p:sp>
      <p:sp>
        <p:nvSpPr>
          <p:cNvPr id="9" name="AutoShape 9"/>
          <p:cNvSpPr/>
          <p:nvPr/>
        </p:nvSpPr>
        <p:spPr>
          <a:xfrm>
            <a:off x="4445000" y="1524000"/>
            <a:ext cx="6985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445000" y="1524000"/>
            <a:ext cx="6985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699000" y="1574800"/>
            <a:ext cx="2219036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日常维护核心要求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4699000" y="2108200"/>
            <a:ext cx="6477000" cy="889000"/>
          </a:xfrm>
          <a:prstGeom prst="roundRect">
            <a:avLst>
              <a:gd name="adj" fmla="val 11428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89500" y="22987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588000" y="2235200"/>
            <a:ext cx="546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螺栓紧固检查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运行6个月后，需全面复紧紧固所有安装螺栓与电气接线端子，防止松动。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4699000" y="3124200"/>
            <a:ext cx="6477000" cy="889000"/>
          </a:xfrm>
          <a:prstGeom prst="roundRect">
            <a:avLst>
              <a:gd name="adj" fmla="val 11428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89500" y="33147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588000" y="3251200"/>
            <a:ext cx="546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针对性润滑策略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在正确密封下，仅需对驱动轴套及阀杆进行定期润滑，其余机构免常规维护。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4699000" y="4140200"/>
            <a:ext cx="6477000" cy="889000"/>
          </a:xfrm>
          <a:prstGeom prst="roundRect">
            <a:avLst>
              <a:gd name="adj" fmla="val 11428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89500" y="4330700"/>
            <a:ext cx="508000" cy="508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5588000" y="4267200"/>
            <a:ext cx="546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闲置存放规范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暂不安装时需存放于干燥环境，并严禁拔掉电缆入口塞，防止潮气进入内部。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4699000" y="5193145"/>
            <a:ext cx="6477000" cy="762000"/>
          </a:xfrm>
          <a:prstGeom prst="roundRect">
            <a:avLst>
              <a:gd name="adj" fmla="val 13333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89500" y="5283200"/>
            <a:ext cx="508000" cy="508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5588000" y="5283200"/>
            <a:ext cx="546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功能有效性检测：</a:t>
            </a: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定期检查密封件完整性、接地可靠性、阀位与转矩检测功能是否正常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06 操作与维护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高频故障处理指南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762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20320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电源缺相报警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413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核心原因：</a:t>
            </a: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外部供电缺相、熔断器损坏、线路板/电机元件故障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8194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快速排除：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1. </a:t>
            </a: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万用表测三相供电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； 2. </a:t>
            </a: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检查熔断器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接触器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； 3. </a:t>
            </a: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排查板卡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762000" y="3429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2000" y="3429000"/>
            <a:ext cx="762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016000" y="35560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⚙️ 开关阀过矩报警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3937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核心原因：</a:t>
            </a: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过矩保护值偏小、阀门内部卡涩、执行机构选型转矩不足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3434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快速排除：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1. 增大设定值； 2. 手动盘阀排除卡阻； 3. 更换大转矩型号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4953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762000" y="4953000"/>
            <a:ext cx="762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016000" y="50800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📡 远程控制失效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5461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核心原因：</a:t>
            </a: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模式旋钮未置“远程”、接线定义错误、远程板/主控板损坏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58674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快速排除：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1. 确认旋钮位置； 2. 核对控制接线图； 3. 更换故障板卡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1905000"/>
            <a:ext cx="5207000" cy="1714500"/>
          </a:xfrm>
          <a:prstGeom prst="roundRect">
            <a:avLst>
              <a:gd name="adj" fmla="val 592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223000" y="1905000"/>
            <a:ext cx="76200" cy="1714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477000" y="20320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📏 阀位出错报警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77000" y="2413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核心原因：</a:t>
            </a: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手动/电动切换机构锁死、阀位检测模块故障、主控板数据通信异常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77000" y="2984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快速排除：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1. </a:t>
            </a: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手轮转至中间位后重试切换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； 2. </a:t>
            </a: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检查阀位反馈线路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； 3. </a:t>
            </a: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更换模块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主板</a:t>
            </a:r>
            <a:endParaRPr lang="en-US" sz="1100" dirty="0"/>
          </a:p>
        </p:txBody>
      </p:sp>
      <p:sp>
        <p:nvSpPr>
          <p:cNvPr id="25" name="AutoShape 25"/>
          <p:cNvSpPr/>
          <p:nvPr/>
        </p:nvSpPr>
        <p:spPr>
          <a:xfrm>
            <a:off x="6223000" y="3810000"/>
            <a:ext cx="5207000" cy="1714500"/>
          </a:xfrm>
          <a:prstGeom prst="roundRect">
            <a:avLst>
              <a:gd name="adj" fmla="val 592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223000" y="3810000"/>
            <a:ext cx="76200" cy="1714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477000" y="39370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🚫 电机堵转报警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477000" y="4318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核心原因：</a:t>
            </a: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阀门严重卡涩（异物/结垢）、执行机构额定转矩远小于负载转矩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477000" y="4889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快速排除：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1. 手动盘阀彻底排查并排除卡阻点； 2. 重新选型匹配大转矩执行机构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223000" y="5715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000" b="0" i="1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 注：以上为RAⅢ系列执行机构常见故障速查方案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07 应用案例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446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电力行业：严苛工况下的可靠选择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841500"/>
            <a:ext cx="5207000" cy="4824220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1F2937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t="13422" b="13422"/>
          <a:stretch>
            <a:fillRect/>
          </a:stretch>
        </p:blipFill>
        <p:spPr>
          <a:xfrm>
            <a:off x="1016000" y="2095500"/>
            <a:ext cx="4699000" cy="2286000"/>
          </a:xfrm>
          <a:prstGeom prst="roundRect">
            <a:avLst>
              <a:gd name="adj" fmla="val 444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016000" y="4508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火力发电领域 · 规模化应用标杆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4953000"/>
            <a:ext cx="4699000" cy="762000"/>
          </a:xfrm>
          <a:prstGeom prst="roundRect">
            <a:avLst>
              <a:gd name="adj" fmla="val 13333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6500" y="5143500"/>
            <a:ext cx="381000" cy="381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778000" y="50292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客户：浙能集团、大唐国际</a:t>
            </a:r>
            <a:r>
              <a:rPr lang="zh-CN" altLang="en-US" sz="11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等</a:t>
            </a:r>
            <a:r>
              <a:rPr lang="en-US" sz="11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| 规模：</a:t>
            </a:r>
            <a:r>
              <a:rPr lang="en-US" sz="1100" b="1" i="0" u="none" strike="noStrike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100+电厂 / 200,000+台</a:t>
            </a:r>
            <a:r>
              <a:rPr lang="en-US" sz="11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执行机构稳定运行。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1016000" y="5842000"/>
            <a:ext cx="4699000" cy="635000"/>
          </a:xfrm>
          <a:prstGeom prst="roundRect">
            <a:avLst>
              <a:gd name="adj" fmla="val 16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6500" y="5969000"/>
            <a:ext cx="381000" cy="381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778000" y="59055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覆盖锅炉/脱硫等关键回路，故障率显著降低，大幅节约维护成本。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1841499"/>
            <a:ext cx="5207000" cy="4824219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1F2937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rcRect t="13476" b="13476"/>
          <a:stretch>
            <a:fillRect/>
          </a:stretch>
        </p:blipFill>
        <p:spPr>
          <a:xfrm>
            <a:off x="6477000" y="2095500"/>
            <a:ext cx="4699000" cy="2286000"/>
          </a:xfrm>
          <a:prstGeom prst="roundRect">
            <a:avLst>
              <a:gd name="adj" fmla="val 444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6477000" y="4508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核电领域</a:t>
            </a:r>
            <a:r>
              <a:rPr lang="en-US" sz="1600" b="1" i="0" u="none" strike="noStrike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600" b="1" i="0" u="none" strike="noStrike" dirty="0" err="1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高标准安全验证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6477000" y="4953000"/>
            <a:ext cx="4699000" cy="762000"/>
          </a:xfrm>
          <a:prstGeom prst="roundRect">
            <a:avLst>
              <a:gd name="adj" fmla="val 13333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67500" y="5143500"/>
            <a:ext cx="381000" cy="381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239000" y="50292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应用：卡拉奇、石岛湾、海阳核电 | 部署于反应堆冷却剂等高安全等级系统。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5842000"/>
            <a:ext cx="4699000" cy="635000"/>
          </a:xfrm>
          <a:prstGeom prst="roundRect">
            <a:avLst>
              <a:gd name="adj" fmla="val 16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67500" y="5969000"/>
            <a:ext cx="381000" cy="381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239000" y="59055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具备</a:t>
            </a:r>
            <a:r>
              <a:rPr lang="en-US" sz="11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IP68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防护与抗强电磁干扰能力，完全符合核电相关标准设计。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07 应用案例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石油化工：保障能源大动脉的核心设备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904999"/>
            <a:ext cx="5207000" cy="4641079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1F2937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t="13199" b="13199"/>
          <a:stretch>
            <a:fillRect/>
          </a:stretch>
        </p:blipFill>
        <p:spPr>
          <a:xfrm>
            <a:off x="889000" y="2032000"/>
            <a:ext cx="4953000" cy="2032000"/>
          </a:xfrm>
          <a:prstGeom prst="roundRect">
            <a:avLst>
              <a:gd name="adj" fmla="val 75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016000" y="4191000"/>
            <a:ext cx="4699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▍石油开采与储运场景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4699000"/>
            <a:ext cx="4699000" cy="762000"/>
          </a:xfrm>
          <a:prstGeom prst="roundRect">
            <a:avLst>
              <a:gd name="adj" fmla="val 13333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3000" y="48895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651000" y="4800600"/>
            <a:ext cx="393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核心客户：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中石油、中石化、大庆油田、新疆油田等头部能源企业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5588000"/>
            <a:ext cx="4699000" cy="762000"/>
          </a:xfrm>
          <a:prstGeom prst="roundRect">
            <a:avLst>
              <a:gd name="adj" fmla="val 13333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3000" y="5778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5689600"/>
            <a:ext cx="393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安全与应用：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ExdⅡCT4防爆设计，广泛应用于井口、集输管线及分输站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1905000"/>
            <a:ext cx="5207000" cy="4641078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1F2937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rcRect t="19230" b="19230"/>
          <a:stretch>
            <a:fillRect/>
          </a:stretch>
        </p:blipFill>
        <p:spPr>
          <a:xfrm>
            <a:off x="6350000" y="2032000"/>
            <a:ext cx="4953000" cy="2032000"/>
          </a:xfrm>
          <a:prstGeom prst="roundRect">
            <a:avLst>
              <a:gd name="adj" fmla="val 75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6477000" y="4191000"/>
            <a:ext cx="4699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▍炼化装置与控制系统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4699000"/>
            <a:ext cx="4699000" cy="762000"/>
          </a:xfrm>
          <a:prstGeom prst="roundRect">
            <a:avLst>
              <a:gd name="adj" fmla="val 13333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48895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12000" y="4800600"/>
            <a:ext cx="393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关键装置：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中石化湖南石化、镇海乙烯等项目，覆盖催化裂化、分馏系统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5588000"/>
            <a:ext cx="4699000" cy="762000"/>
          </a:xfrm>
          <a:prstGeom prst="roundRect">
            <a:avLst>
              <a:gd name="adj" fmla="val 13333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04000" y="57785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112000" y="5689600"/>
            <a:ext cx="393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业务价值：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高稳定性保障连续生产，显著降低石化装置的非计划停工风险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">
            <a:extLst>
              <a:ext uri="{FF2B5EF4-FFF2-40B4-BE49-F238E27FC236}">
                <a16:creationId xmlns:a16="http://schemas.microsoft.com/office/drawing/2014/main" id="{FBBBA158-9F20-B671-EED3-720129550406}"/>
              </a:ext>
            </a:extLst>
          </p:cNvPr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07 </a:t>
            </a: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应用案例</a:t>
            </a:r>
            <a:endParaRPr lang="en-US" sz="1100" dirty="0"/>
          </a:p>
        </p:txBody>
      </p:sp>
      <p:sp>
        <p:nvSpPr>
          <p:cNvPr id="33" name="AutoShape 4">
            <a:extLst>
              <a:ext uri="{FF2B5EF4-FFF2-40B4-BE49-F238E27FC236}">
                <a16:creationId xmlns:a16="http://schemas.microsoft.com/office/drawing/2014/main" id="{827D85CE-F0F3-46A7-EBD4-A4CF5BE3D250}"/>
              </a:ext>
            </a:extLst>
          </p:cNvPr>
          <p:cNvSpPr/>
          <p:nvPr/>
        </p:nvSpPr>
        <p:spPr>
          <a:xfrm>
            <a:off x="762000" y="1270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冶金行业：顶级客户的信赖之选</a:t>
            </a:r>
            <a:endParaRPr lang="en-US" sz="1100"/>
          </a:p>
        </p:txBody>
      </p:sp>
      <p:sp>
        <p:nvSpPr>
          <p:cNvPr id="34" name="AutoShape 5">
            <a:extLst>
              <a:ext uri="{FF2B5EF4-FFF2-40B4-BE49-F238E27FC236}">
                <a16:creationId xmlns:a16="http://schemas.microsoft.com/office/drawing/2014/main" id="{AD1E24BC-7915-5A43-4DCA-48378E935671}"/>
              </a:ext>
            </a:extLst>
          </p:cNvPr>
          <p:cNvSpPr/>
          <p:nvPr/>
        </p:nvSpPr>
        <p:spPr>
          <a:xfrm>
            <a:off x="762000" y="1905000"/>
            <a:ext cx="3556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5" name="Picture 6">
            <a:extLst>
              <a:ext uri="{FF2B5EF4-FFF2-40B4-BE49-F238E27FC236}">
                <a16:creationId xmlns:a16="http://schemas.microsoft.com/office/drawing/2014/main" id="{0504AFFE-A266-4A13-C105-091DB33AA2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713" b="6713"/>
          <a:stretch>
            <a:fillRect/>
          </a:stretch>
        </p:blipFill>
        <p:spPr>
          <a:xfrm>
            <a:off x="889000" y="2032000"/>
            <a:ext cx="3302000" cy="1905000"/>
          </a:xfrm>
          <a:prstGeom prst="roundRect">
            <a:avLst>
              <a:gd name="adj" fmla="val 533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6" name="AutoShape 7">
            <a:extLst>
              <a:ext uri="{FF2B5EF4-FFF2-40B4-BE49-F238E27FC236}">
                <a16:creationId xmlns:a16="http://schemas.microsoft.com/office/drawing/2014/main" id="{60D27B82-7024-0151-2084-A10C1AC67B31}"/>
              </a:ext>
            </a:extLst>
          </p:cNvPr>
          <p:cNvSpPr/>
          <p:nvPr/>
        </p:nvSpPr>
        <p:spPr>
          <a:xfrm>
            <a:off x="762000" y="4318000"/>
            <a:ext cx="3556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7" name="Picture 8">
            <a:extLst>
              <a:ext uri="{FF2B5EF4-FFF2-40B4-BE49-F238E27FC236}">
                <a16:creationId xmlns:a16="http://schemas.microsoft.com/office/drawing/2014/main" id="{009D6094-6439-32D9-BA9C-17E9D2F5CE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121" b="11121"/>
          <a:stretch>
            <a:fillRect/>
          </a:stretch>
        </p:blipFill>
        <p:spPr>
          <a:xfrm>
            <a:off x="889000" y="4445000"/>
            <a:ext cx="3302000" cy="1778000"/>
          </a:xfrm>
          <a:prstGeom prst="roundRect">
            <a:avLst>
              <a:gd name="adj" fmla="val 571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8" name="AutoShape 9">
            <a:extLst>
              <a:ext uri="{FF2B5EF4-FFF2-40B4-BE49-F238E27FC236}">
                <a16:creationId xmlns:a16="http://schemas.microsoft.com/office/drawing/2014/main" id="{1FDA6478-4AE5-D5E5-D06E-286E34661569}"/>
              </a:ext>
            </a:extLst>
          </p:cNvPr>
          <p:cNvSpPr/>
          <p:nvPr/>
        </p:nvSpPr>
        <p:spPr>
          <a:xfrm>
            <a:off x="4572000" y="1905000"/>
            <a:ext cx="685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25400" dir="27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AutoShape 10">
            <a:extLst>
              <a:ext uri="{FF2B5EF4-FFF2-40B4-BE49-F238E27FC236}">
                <a16:creationId xmlns:a16="http://schemas.microsoft.com/office/drawing/2014/main" id="{12561121-8ADF-0072-16E0-221444A50514}"/>
              </a:ext>
            </a:extLst>
          </p:cNvPr>
          <p:cNvSpPr/>
          <p:nvPr/>
        </p:nvSpPr>
        <p:spPr>
          <a:xfrm>
            <a:off x="4572000" y="1905000"/>
            <a:ext cx="76200" cy="1143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AutoShape 11">
            <a:extLst>
              <a:ext uri="{FF2B5EF4-FFF2-40B4-BE49-F238E27FC236}">
                <a16:creationId xmlns:a16="http://schemas.microsoft.com/office/drawing/2014/main" id="{475E5286-9867-5362-265C-CE3AD4510A75}"/>
              </a:ext>
            </a:extLst>
          </p:cNvPr>
          <p:cNvSpPr/>
          <p:nvPr/>
        </p:nvSpPr>
        <p:spPr>
          <a:xfrm>
            <a:off x="4826000" y="20320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▌ 行业环境挑战</a:t>
            </a:r>
            <a:endParaRPr lang="en-US" sz="1100"/>
          </a:p>
        </p:txBody>
      </p:sp>
      <p:sp>
        <p:nvSpPr>
          <p:cNvPr id="41" name="AutoShape 12">
            <a:extLst>
              <a:ext uri="{FF2B5EF4-FFF2-40B4-BE49-F238E27FC236}">
                <a16:creationId xmlns:a16="http://schemas.microsoft.com/office/drawing/2014/main" id="{D00A4DB0-164C-5F61-F3FF-AFDB7AF38BA3}"/>
              </a:ext>
            </a:extLst>
          </p:cNvPr>
          <p:cNvSpPr/>
          <p:nvPr/>
        </p:nvSpPr>
        <p:spPr>
          <a:xfrm>
            <a:off x="4826000" y="2413000"/>
            <a:ext cx="635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冶金行业具有高温、高压、粉尘大、振动强等极端恶劣的生产环境。RAⅢ系列凭借其坚固的工业级结构设计与高可靠的核心性能，成功克服环境限制，稳定运行于各大钢铁企业产线。</a:t>
            </a:r>
            <a:endParaRPr lang="en-US" sz="1100"/>
          </a:p>
        </p:txBody>
      </p:sp>
      <p:sp>
        <p:nvSpPr>
          <p:cNvPr id="42" name="AutoShape 13">
            <a:extLst>
              <a:ext uri="{FF2B5EF4-FFF2-40B4-BE49-F238E27FC236}">
                <a16:creationId xmlns:a16="http://schemas.microsoft.com/office/drawing/2014/main" id="{F6F0C76E-C01F-FA7F-ADB4-9315AFE93172}"/>
              </a:ext>
            </a:extLst>
          </p:cNvPr>
          <p:cNvSpPr/>
          <p:nvPr/>
        </p:nvSpPr>
        <p:spPr>
          <a:xfrm>
            <a:off x="4572000" y="3302000"/>
            <a:ext cx="685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25400" dir="27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AutoShape 14">
            <a:extLst>
              <a:ext uri="{FF2B5EF4-FFF2-40B4-BE49-F238E27FC236}">
                <a16:creationId xmlns:a16="http://schemas.microsoft.com/office/drawing/2014/main" id="{595B9357-E97F-3084-E48E-9DD4F0B68DEB}"/>
              </a:ext>
            </a:extLst>
          </p:cNvPr>
          <p:cNvSpPr/>
          <p:nvPr/>
        </p:nvSpPr>
        <p:spPr>
          <a:xfrm>
            <a:off x="4572000" y="3302000"/>
            <a:ext cx="76200" cy="1270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" name="AutoShape 15">
            <a:extLst>
              <a:ext uri="{FF2B5EF4-FFF2-40B4-BE49-F238E27FC236}">
                <a16:creationId xmlns:a16="http://schemas.microsoft.com/office/drawing/2014/main" id="{0494C69C-BDE3-8422-3EF8-72984BEFA820}"/>
              </a:ext>
            </a:extLst>
          </p:cNvPr>
          <p:cNvSpPr/>
          <p:nvPr/>
        </p:nvSpPr>
        <p:spPr>
          <a:xfrm>
            <a:off x="4826000" y="34290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▌ </a:t>
            </a:r>
            <a:r>
              <a:rPr lang="en-US" sz="14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核心客户信赖</a:t>
            </a:r>
            <a:endParaRPr lang="en-US" sz="1100" dirty="0"/>
          </a:p>
        </p:txBody>
      </p:sp>
      <p:sp>
        <p:nvSpPr>
          <p:cNvPr id="45" name="AutoShape 16">
            <a:extLst>
              <a:ext uri="{FF2B5EF4-FFF2-40B4-BE49-F238E27FC236}">
                <a16:creationId xmlns:a16="http://schemas.microsoft.com/office/drawing/2014/main" id="{607E3FF4-BA93-BE47-2BAF-2BF7AE252D62}"/>
              </a:ext>
            </a:extLst>
          </p:cNvPr>
          <p:cNvSpPr/>
          <p:nvPr/>
        </p:nvSpPr>
        <p:spPr>
          <a:xfrm>
            <a:off x="4826000" y="3810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1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lang="en-US" sz="11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北京首钢集团有限公司</a:t>
            </a:r>
            <a:endParaRPr lang="en-US" sz="1100" dirty="0"/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lang="en-US" sz="11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江苏沙钢集团有限公司</a:t>
            </a:r>
            <a:endParaRPr lang="en-US" sz="1100" b="0" i="0" u="none" strike="noStrike" dirty="0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6" name="AutoShape 17">
            <a:extLst>
              <a:ext uri="{FF2B5EF4-FFF2-40B4-BE49-F238E27FC236}">
                <a16:creationId xmlns:a16="http://schemas.microsoft.com/office/drawing/2014/main" id="{F385AB3C-A284-4A9A-0FD0-B318D0A4628B}"/>
              </a:ext>
            </a:extLst>
          </p:cNvPr>
          <p:cNvSpPr/>
          <p:nvPr/>
        </p:nvSpPr>
        <p:spPr>
          <a:xfrm>
            <a:off x="8001000" y="3810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1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lang="en-US" sz="11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莱芜钢铁集团有限公司</a:t>
            </a:r>
            <a:endParaRPr lang="en-US" sz="1100" dirty="0"/>
          </a:p>
          <a:p>
            <a:pPr indent="0" algn="l">
              <a:lnSpc>
                <a:spcPct val="116666"/>
              </a:lnSpc>
            </a:pPr>
            <a:r>
              <a:rPr lang="en-US" sz="11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lang="en-US" sz="11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天津大无缝集团有限公司</a:t>
            </a:r>
            <a:endParaRPr lang="en-US" sz="1100" b="0" i="0" u="none" strike="noStrike" dirty="0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7" name="AutoShape 18">
            <a:extLst>
              <a:ext uri="{FF2B5EF4-FFF2-40B4-BE49-F238E27FC236}">
                <a16:creationId xmlns:a16="http://schemas.microsoft.com/office/drawing/2014/main" id="{FD579997-3377-9D46-36D7-C16B52748931}"/>
              </a:ext>
            </a:extLst>
          </p:cNvPr>
          <p:cNvSpPr/>
          <p:nvPr/>
        </p:nvSpPr>
        <p:spPr>
          <a:xfrm>
            <a:off x="4572000" y="4826000"/>
            <a:ext cx="6858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25400" dir="27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AutoShape 19">
            <a:extLst>
              <a:ext uri="{FF2B5EF4-FFF2-40B4-BE49-F238E27FC236}">
                <a16:creationId xmlns:a16="http://schemas.microsoft.com/office/drawing/2014/main" id="{463F70EC-300F-923E-5815-290AFCB23F32}"/>
              </a:ext>
            </a:extLst>
          </p:cNvPr>
          <p:cNvSpPr/>
          <p:nvPr/>
        </p:nvSpPr>
        <p:spPr>
          <a:xfrm>
            <a:off x="4572000" y="4826000"/>
            <a:ext cx="76200" cy="1524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20">
            <a:extLst>
              <a:ext uri="{FF2B5EF4-FFF2-40B4-BE49-F238E27FC236}">
                <a16:creationId xmlns:a16="http://schemas.microsoft.com/office/drawing/2014/main" id="{EF0390B6-6C06-B644-B8E9-DF1932FE0BA9}"/>
              </a:ext>
            </a:extLst>
          </p:cNvPr>
          <p:cNvSpPr/>
          <p:nvPr/>
        </p:nvSpPr>
        <p:spPr>
          <a:xfrm>
            <a:off x="4826000" y="4953000"/>
            <a:ext cx="292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核心应用场景</a:t>
            </a:r>
            <a:endParaRPr lang="en-US" sz="1100"/>
          </a:p>
        </p:txBody>
      </p:sp>
      <p:sp>
        <p:nvSpPr>
          <p:cNvPr id="50" name="AutoShape 21">
            <a:extLst>
              <a:ext uri="{FF2B5EF4-FFF2-40B4-BE49-F238E27FC236}">
                <a16:creationId xmlns:a16="http://schemas.microsoft.com/office/drawing/2014/main" id="{D75190AF-037B-0E5C-83B4-AED611908376}"/>
              </a:ext>
            </a:extLst>
          </p:cNvPr>
          <p:cNvSpPr/>
          <p:nvPr/>
        </p:nvSpPr>
        <p:spPr>
          <a:xfrm>
            <a:off x="4826000" y="53340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广泛应用于高炉控制系统、转炉/电炉炼钢、连铸系统及高精度轧钢系统等核心生产环节。</a:t>
            </a:r>
            <a:endParaRPr lang="en-US" sz="1100"/>
          </a:p>
        </p:txBody>
      </p:sp>
      <p:sp>
        <p:nvSpPr>
          <p:cNvPr id="51" name="AutoShape 22">
            <a:extLst>
              <a:ext uri="{FF2B5EF4-FFF2-40B4-BE49-F238E27FC236}">
                <a16:creationId xmlns:a16="http://schemas.microsoft.com/office/drawing/2014/main" id="{CAF48195-B15E-EC85-BB12-613055C0E927}"/>
              </a:ext>
            </a:extLst>
          </p:cNvPr>
          <p:cNvSpPr/>
          <p:nvPr/>
        </p:nvSpPr>
        <p:spPr>
          <a:xfrm>
            <a:off x="7874000" y="49530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核心价值交付</a:t>
            </a:r>
            <a:endParaRPr lang="en-US" sz="1100"/>
          </a:p>
        </p:txBody>
      </p:sp>
      <p:pic>
        <p:nvPicPr>
          <p:cNvPr id="52" name="Picture 23">
            <a:extLst>
              <a:ext uri="{FF2B5EF4-FFF2-40B4-BE49-F238E27FC236}">
                <a16:creationId xmlns:a16="http://schemas.microsoft.com/office/drawing/2014/main" id="{AE7BDC0B-F9C9-ED41-8B90-2DC83E8794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74000" y="5359400"/>
            <a:ext cx="203200" cy="203200"/>
          </a:xfrm>
          <a:prstGeom prst="rect">
            <a:avLst/>
          </a:prstGeom>
        </p:spPr>
      </p:pic>
      <p:sp>
        <p:nvSpPr>
          <p:cNvPr id="53" name="AutoShape 24">
            <a:extLst>
              <a:ext uri="{FF2B5EF4-FFF2-40B4-BE49-F238E27FC236}">
                <a16:creationId xmlns:a16="http://schemas.microsoft.com/office/drawing/2014/main" id="{D2D3D546-EC1C-6BBD-EA34-DED4B761FFC8}"/>
              </a:ext>
            </a:extLst>
          </p:cNvPr>
          <p:cNvSpPr/>
          <p:nvPr/>
        </p:nvSpPr>
        <p:spPr>
          <a:xfrm>
            <a:off x="8191500" y="53340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耐高温防尘：适应冶金车间恶劣环境</a:t>
            </a:r>
            <a:endParaRPr lang="en-US" sz="1100"/>
          </a:p>
        </p:txBody>
      </p:sp>
      <p:pic>
        <p:nvPicPr>
          <p:cNvPr id="54" name="Picture 25">
            <a:extLst>
              <a:ext uri="{FF2B5EF4-FFF2-40B4-BE49-F238E27FC236}">
                <a16:creationId xmlns:a16="http://schemas.microsoft.com/office/drawing/2014/main" id="{FE5EFDC7-9923-0C47-4210-F73555E0DE8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74000" y="5740400"/>
            <a:ext cx="203200" cy="203200"/>
          </a:xfrm>
          <a:prstGeom prst="rect">
            <a:avLst/>
          </a:prstGeom>
        </p:spPr>
      </p:pic>
      <p:sp>
        <p:nvSpPr>
          <p:cNvPr id="55" name="AutoShape 26">
            <a:extLst>
              <a:ext uri="{FF2B5EF4-FFF2-40B4-BE49-F238E27FC236}">
                <a16:creationId xmlns:a16="http://schemas.microsoft.com/office/drawing/2014/main" id="{E297660A-9CFA-B131-F1D1-16F2EB9545B6}"/>
              </a:ext>
            </a:extLst>
          </p:cNvPr>
          <p:cNvSpPr/>
          <p:nvPr/>
        </p:nvSpPr>
        <p:spPr>
          <a:xfrm>
            <a:off x="8191500" y="57150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智控降维：自诊断功能大幅降低维护量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07 应用案例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17031" b="17031"/>
          <a:stretch>
            <a:fillRect/>
          </a:stretch>
        </p:blipFill>
        <p:spPr>
          <a:xfrm>
            <a:off x="762000" y="1524000"/>
            <a:ext cx="3429000" cy="2286000"/>
          </a:xfrm>
          <a:prstGeom prst="roundRect">
            <a:avLst>
              <a:gd name="adj" fmla="val 6666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1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rcRect l="9218" r="9218"/>
          <a:stretch>
            <a:fillRect/>
          </a:stretch>
        </p:blipFill>
        <p:spPr>
          <a:xfrm>
            <a:off x="762000" y="4064000"/>
            <a:ext cx="3429000" cy="2286000"/>
          </a:xfrm>
          <a:prstGeom prst="roundRect">
            <a:avLst>
              <a:gd name="adj" fmla="val 6666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4445000" y="1524000"/>
            <a:ext cx="698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水处理行业：保障城市水脉的稳定运行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2032000"/>
            <a:ext cx="698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水处理行业对执行机构的可靠性、防腐性和调节精度有较高要求。RAⅢ系列凭借其高防护、强防腐的设计优势，在市政供水与污水处理领域占据了重要的一席之地。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2857500"/>
            <a:ext cx="6985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635500" y="3048000"/>
            <a:ext cx="2032000" cy="1270000"/>
          </a:xfrm>
          <a:prstGeom prst="roundRect">
            <a:avLst>
              <a:gd name="adj" fmla="val 800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62500" y="3175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270500" y="32004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液位控制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762500" y="3683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清水池/污水池自动控制，稳定可靠。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794500" y="3048000"/>
            <a:ext cx="2032000" cy="1270000"/>
          </a:xfrm>
          <a:prstGeom prst="roundRect">
            <a:avLst>
              <a:gd name="adj" fmla="val 800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21500" y="3175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429500" y="32004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流量调节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921500" y="3683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加药/反冲洗系统精确投加，精度高。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953500" y="3048000"/>
            <a:ext cx="2032000" cy="1270000"/>
          </a:xfrm>
          <a:prstGeom prst="roundRect">
            <a:avLst>
              <a:gd name="adj" fmla="val 800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80500" y="3175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588500" y="32004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泵站控制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080500" y="3683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远程启停阀门，智能调节提升流量。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445000" y="4699000"/>
            <a:ext cx="6985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4635500" y="4889500"/>
            <a:ext cx="2032000" cy="1270000"/>
          </a:xfrm>
          <a:prstGeom prst="roundRect">
            <a:avLst>
              <a:gd name="adj" fmla="val 8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62500" y="50165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5270500" y="50419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IP68 高防护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762500" y="55245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无惧户外潮湿雨淋，适应恶劣工况。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794500" y="4889500"/>
            <a:ext cx="2032000" cy="1270000"/>
          </a:xfrm>
          <a:prstGeom prst="roundRect">
            <a:avLst>
              <a:gd name="adj" fmla="val 8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921500" y="5016500"/>
            <a:ext cx="406400" cy="4064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429500" y="50419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专业防腐涂层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921500" y="55245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抵抗腐蚀气液，延长设备使用寿命。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953500" y="4889500"/>
            <a:ext cx="2032000" cy="1270000"/>
          </a:xfrm>
          <a:prstGeom prst="roundRect">
            <a:avLst>
              <a:gd name="adj" fmla="val 8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080500" y="5016500"/>
            <a:ext cx="406400" cy="4064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9588500" y="50419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低启动频率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9080500" y="55245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专为低变速自控回路设计，响应灵敏。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08 控制与订货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核心端子定义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4064000" cy="4318000"/>
          </a:xfrm>
          <a:prstGeom prst="roundRect">
            <a:avLst>
              <a:gd name="adj" fmla="val 37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l="14843" r="14843"/>
          <a:stretch>
            <a:fillRect/>
          </a:stretch>
        </p:blipFill>
        <p:spPr>
          <a:xfrm>
            <a:off x="889000" y="2032000"/>
            <a:ext cx="3810000" cy="4064000"/>
          </a:xfrm>
          <a:prstGeom prst="roundRect">
            <a:avLst>
              <a:gd name="adj" fmla="val 266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5207000" y="1905000"/>
            <a:ext cx="203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5207000" y="2095500"/>
            <a:ext cx="50800" cy="304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359400" y="20574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NO. 1/2/3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5359400" y="23876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动力电源输入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359400" y="26924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三相380V输入；单相220V接1/3号，2号空置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207000" y="3492500"/>
            <a:ext cx="203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5207000" y="3683000"/>
            <a:ext cx="50800" cy="304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5359400" y="36449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NO. 6-13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359400" y="39751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可编程状态输出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359400" y="42799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S1-S4四路独立继电器输出，可自定义功能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207000" y="5080000"/>
            <a:ext cx="203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5207000" y="5270500"/>
            <a:ext cx="50800" cy="304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5359400" y="52324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NO. 24/21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359400" y="55626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实时转矩反馈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359400" y="58674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输出4-20mA模拟电流信号，实时反映执行器转矩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429500" y="1905000"/>
            <a:ext cx="203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7429500" y="2095500"/>
            <a:ext cx="50800" cy="304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7581900" y="20574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NO. 33/34/35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581900" y="23876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远程控制指令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581900" y="26924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33-远程关阀 | 34-保持/停止 | 35-远程开阀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429500" y="3492500"/>
            <a:ext cx="203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7429500" y="3683000"/>
            <a:ext cx="50800" cy="304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7581900" y="36449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NO. 26/27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581900" y="39751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阀位给定输入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581900" y="42799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接收4-20mA控制电流信号，用于比例调节控制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429500" y="5080000"/>
            <a:ext cx="203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7429500" y="5270500"/>
            <a:ext cx="50800" cy="304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7581900" y="52324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NO. 25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7581900" y="55626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ESD 紧急保护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7581900" y="58674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高优先级紧急关阀控制信号输入，确保安全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9652000" y="1905000"/>
            <a:ext cx="1905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9652000" y="2095500"/>
            <a:ext cx="50800" cy="304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AutoShape 39"/>
          <p:cNvSpPr/>
          <p:nvPr/>
        </p:nvSpPr>
        <p:spPr>
          <a:xfrm>
            <a:off x="9804400" y="2057400"/>
            <a:ext cx="1651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NO. 42-44</a:t>
            </a:r>
            <a:endParaRPr lang="en-US" sz="1100" dirty="0"/>
          </a:p>
        </p:txBody>
      </p:sp>
      <p:sp>
        <p:nvSpPr>
          <p:cNvPr id="40" name="AutoShape 40"/>
          <p:cNvSpPr/>
          <p:nvPr/>
        </p:nvSpPr>
        <p:spPr>
          <a:xfrm>
            <a:off x="9804400" y="2387600"/>
            <a:ext cx="1651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健康状态监视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9804400" y="26924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设备故障/掉电时失励，反馈运行状态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9652000" y="3492500"/>
            <a:ext cx="1905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AutoShape 43"/>
          <p:cNvSpPr/>
          <p:nvPr/>
        </p:nvSpPr>
        <p:spPr>
          <a:xfrm>
            <a:off x="9652000" y="3683000"/>
            <a:ext cx="50800" cy="304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" name="AutoShape 44"/>
          <p:cNvSpPr/>
          <p:nvPr/>
        </p:nvSpPr>
        <p:spPr>
          <a:xfrm>
            <a:off x="9804400" y="3644900"/>
            <a:ext cx="1651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NO. 22/23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9804400" y="3975100"/>
            <a:ext cx="1651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开度反馈输出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9804400" y="42799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输出4-20mA电流信号，实时反馈阀门开度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9652000" y="5080000"/>
            <a:ext cx="1905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AutoShape 48"/>
          <p:cNvSpPr/>
          <p:nvPr/>
        </p:nvSpPr>
        <p:spPr>
          <a:xfrm>
            <a:off x="9652000" y="5270500"/>
            <a:ext cx="50800" cy="304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49"/>
          <p:cNvSpPr/>
          <p:nvPr/>
        </p:nvSpPr>
        <p:spPr>
          <a:xfrm>
            <a:off x="9804400" y="5232400"/>
            <a:ext cx="1651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NO. 37/38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9804400" y="5562600"/>
            <a:ext cx="1651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联锁逻辑控制</a:t>
            </a:r>
            <a:endParaRPr lang="en-US" sz="1100"/>
          </a:p>
        </p:txBody>
      </p:sp>
      <p:sp>
        <p:nvSpPr>
          <p:cNvPr id="51" name="AutoShape 51"/>
          <p:cNvSpPr/>
          <p:nvPr/>
        </p:nvSpPr>
        <p:spPr>
          <a:xfrm>
            <a:off x="9804400" y="58674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接入开阀/关阀联锁信号，实现逻辑互锁保护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08 控制与订货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889000" cy="8890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6500" y="1968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159000" y="1778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远程开关量控制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159000" y="22860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支持内部24VDC、外部24-60V交直流、外部110V/220V交流</a:t>
            </a:r>
            <a:r>
              <a:rPr lang="zh-CN" alt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等多</a:t>
            </a: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种供电方式，可根据现场实际工况灵活选择最佳接线方案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6223000" y="1524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477000" y="1778000"/>
            <a:ext cx="889000" cy="8890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7500" y="19685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620000" y="1778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模拟量比例控制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0" y="2286000"/>
            <a:ext cx="355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适配4-20mA输入信号，支持自定义死区值(0.1~9.9%)、信号丢失动作(保位/全开/全关)及高低信阀位对应关系，并可进行现场精准校准。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064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16000" y="4318000"/>
            <a:ext cx="889000" cy="8890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06500" y="45085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2159000" y="4318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现场总线控制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159000" y="4826000"/>
            <a:ext cx="355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全面兼容Modbus/Profibus/Hart/FF等主流工业协议。按手册规范接线后，可灵活配置本机地址、通讯速率及冗余参数，实现无缝组网。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4064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477000" y="4318000"/>
            <a:ext cx="889000" cy="8890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67500" y="4508500"/>
            <a:ext cx="508000" cy="508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620000" y="4318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安全功能接线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0" y="4826000"/>
            <a:ext cx="355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ESD紧急动作支持自定义触发电平与超越权限；联锁控制可实现就地/远程双向联锁，具备极高的可靠性，完美适配高安全等级工况。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08 控制与订货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065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MODEL NAMING &amp; ORDERING INFORMATION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▍型号命名规则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667000"/>
            <a:ext cx="2794000" cy="1905000"/>
          </a:xfrm>
          <a:prstGeom prst="roundRect">
            <a:avLst>
              <a:gd name="adj" fmla="val 11428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143000" y="27940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RAⅢ</a:t>
            </a:r>
            <a:r>
              <a:rPr lang="en-US" sz="12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 □□□- □ -□ -□ -□ -□ -□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1016000" y="4978044"/>
            <a:ext cx="2794000" cy="82917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r>
              <a:rPr lang="en-US" sz="11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产品系列：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固定标识 </a:t>
            </a: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RAⅢ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r>
              <a:rPr lang="en-US" sz="11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转矩/</a:t>
            </a:r>
            <a:r>
              <a:rPr lang="en-US" sz="1100" b="1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法兰：</a:t>
            </a: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额定转矩规格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连接法兰</a:t>
            </a:r>
            <a:endParaRPr lang="en-US" sz="11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r>
              <a:rPr lang="en-US" sz="11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核心参数：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输出转速 / </a:t>
            </a: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电源类型</a:t>
            </a:r>
            <a:endParaRPr lang="en-US" sz="11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4.</a:t>
            </a:r>
            <a:r>
              <a:rPr lang="en-US" sz="11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扩展配置：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防护等级 / </a:t>
            </a: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接线图号</a:t>
            </a:r>
            <a:endParaRPr lang="en-US" sz="11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445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699000" y="2032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▍订货代码示例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2667000"/>
            <a:ext cx="2794000" cy="1016000"/>
          </a:xfrm>
          <a:prstGeom prst="roundRect">
            <a:avLst>
              <a:gd name="adj" fmla="val 10000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826000" y="2794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1" i="0" u="none" strike="noStrike" dirty="0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RAⅢ14AF14A-24-1</a:t>
            </a:r>
            <a:br>
              <a:rPr lang="en-US" sz="1100" b="1" i="0" u="none" strike="noStrike" dirty="0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1" i="0" u="none" strike="noStrike" dirty="0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-W-101-03-1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4699000" y="3937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代表：RAⅢ系列执行机构，203N.m额定转矩，F14连接法兰，A型推力</a:t>
            </a:r>
            <a:r>
              <a:rPr lang="zh-CN" altLang="en-US" sz="11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型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，24rpm输出转速，三相380V电源，IP68防护等级，配置电流控制输入与阀位反馈输出。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8128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382000" y="2032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▍关键订货信息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82000" y="2667000"/>
            <a:ext cx="2794000" cy="889000"/>
          </a:xfrm>
          <a:prstGeom prst="roundRect">
            <a:avLst>
              <a:gd name="adj" fmla="val 1142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09000" y="2857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080500" y="2794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基础型号确认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完整执行机构型号 + 接线图号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382000" y="3683000"/>
            <a:ext cx="2794000" cy="889000"/>
          </a:xfrm>
          <a:prstGeom prst="roundRect">
            <a:avLst>
              <a:gd name="adj" fmla="val 1142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09000" y="38735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080500" y="3810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蜗轮箱参数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RGD/RGW系列 + 具体减速比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382000" y="4699000"/>
            <a:ext cx="2794000" cy="889000"/>
          </a:xfrm>
          <a:prstGeom prst="roundRect">
            <a:avLst>
              <a:gd name="adj" fmla="val 1142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09000" y="48895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080500" y="4826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特殊功能定制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总线通讯、防爆等级或特殊接口</a:t>
            </a:r>
            <a:endParaRPr lang="en-US" sz="1100"/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4182C604-62D2-618B-EBD6-A6151D30DD2C}"/>
              </a:ext>
            </a:extLst>
          </p:cNvPr>
          <p:cNvCxnSpPr/>
          <p:nvPr/>
        </p:nvCxnSpPr>
        <p:spPr>
          <a:xfrm>
            <a:off x="1701475" y="3216658"/>
            <a:ext cx="3845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6D033BA3-AF26-2CE0-1691-4635EE36693A}"/>
              </a:ext>
            </a:extLst>
          </p:cNvPr>
          <p:cNvCxnSpPr>
            <a:cxnSpLocks/>
          </p:cNvCxnSpPr>
          <p:nvPr/>
        </p:nvCxnSpPr>
        <p:spPr>
          <a:xfrm>
            <a:off x="1439501" y="3221318"/>
            <a:ext cx="0" cy="2076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88DB9894-DAFF-1228-830A-9AEB5CAE5E77}"/>
              </a:ext>
            </a:extLst>
          </p:cNvPr>
          <p:cNvCxnSpPr>
            <a:cxnSpLocks/>
          </p:cNvCxnSpPr>
          <p:nvPr/>
        </p:nvCxnSpPr>
        <p:spPr>
          <a:xfrm>
            <a:off x="1874067" y="3216658"/>
            <a:ext cx="0" cy="4101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603BF72C-DAA4-1CEA-1373-6D44F02EC428}"/>
              </a:ext>
            </a:extLst>
          </p:cNvPr>
          <p:cNvCxnSpPr>
            <a:cxnSpLocks/>
          </p:cNvCxnSpPr>
          <p:nvPr/>
        </p:nvCxnSpPr>
        <p:spPr>
          <a:xfrm>
            <a:off x="2391931" y="3216658"/>
            <a:ext cx="0" cy="5933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2D5EFF6E-AC26-27EE-C6D3-4CDA70DF2A9B}"/>
              </a:ext>
            </a:extLst>
          </p:cNvPr>
          <p:cNvCxnSpPr>
            <a:cxnSpLocks/>
          </p:cNvCxnSpPr>
          <p:nvPr/>
        </p:nvCxnSpPr>
        <p:spPr>
          <a:xfrm>
            <a:off x="2692400" y="3216658"/>
            <a:ext cx="8509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F1C5A5BF-7E00-67B9-559B-BE7F4D8C141A}"/>
              </a:ext>
            </a:extLst>
          </p:cNvPr>
          <p:cNvCxnSpPr>
            <a:cxnSpLocks/>
          </p:cNvCxnSpPr>
          <p:nvPr/>
        </p:nvCxnSpPr>
        <p:spPr>
          <a:xfrm>
            <a:off x="2211294" y="3216658"/>
            <a:ext cx="3612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58DA1564-9571-6B48-AA76-CF4EEEA052FF}"/>
              </a:ext>
            </a:extLst>
          </p:cNvPr>
          <p:cNvCxnSpPr>
            <a:cxnSpLocks/>
          </p:cNvCxnSpPr>
          <p:nvPr/>
        </p:nvCxnSpPr>
        <p:spPr>
          <a:xfrm>
            <a:off x="3117850" y="3216658"/>
            <a:ext cx="0" cy="879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F3C57E33-78C3-F791-FB05-EC248E651330}"/>
              </a:ext>
            </a:extLst>
          </p:cNvPr>
          <p:cNvSpPr txBox="1"/>
          <p:nvPr/>
        </p:nvSpPr>
        <p:spPr>
          <a:xfrm>
            <a:off x="1292589" y="3444782"/>
            <a:ext cx="1921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3" name="流程图: 接点 52">
            <a:extLst>
              <a:ext uri="{FF2B5EF4-FFF2-40B4-BE49-F238E27FC236}">
                <a16:creationId xmlns:a16="http://schemas.microsoft.com/office/drawing/2014/main" id="{FF0BB340-228F-2869-F43F-A60FB800E6D8}"/>
              </a:ext>
            </a:extLst>
          </p:cNvPr>
          <p:cNvSpPr/>
          <p:nvPr/>
        </p:nvSpPr>
        <p:spPr>
          <a:xfrm>
            <a:off x="1292589" y="3478133"/>
            <a:ext cx="274251" cy="249964"/>
          </a:xfrm>
          <a:prstGeom prst="flowChartConnector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FB9E5B22-6B67-3F84-4CB1-15BBE4078121}"/>
              </a:ext>
            </a:extLst>
          </p:cNvPr>
          <p:cNvSpPr txBox="1"/>
          <p:nvPr/>
        </p:nvSpPr>
        <p:spPr>
          <a:xfrm>
            <a:off x="1745017" y="3626796"/>
            <a:ext cx="1921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5" name="流程图: 接点 54">
            <a:extLst>
              <a:ext uri="{FF2B5EF4-FFF2-40B4-BE49-F238E27FC236}">
                <a16:creationId xmlns:a16="http://schemas.microsoft.com/office/drawing/2014/main" id="{8219E2F2-C72E-9DBB-3B1E-747B20654944}"/>
              </a:ext>
            </a:extLst>
          </p:cNvPr>
          <p:cNvSpPr/>
          <p:nvPr/>
        </p:nvSpPr>
        <p:spPr>
          <a:xfrm>
            <a:off x="1745017" y="3660147"/>
            <a:ext cx="274251" cy="249964"/>
          </a:xfrm>
          <a:prstGeom prst="flowChartConnector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ED2F13BC-63D7-1DBE-ABEB-598096F360DA}"/>
              </a:ext>
            </a:extLst>
          </p:cNvPr>
          <p:cNvSpPr txBox="1"/>
          <p:nvPr/>
        </p:nvSpPr>
        <p:spPr>
          <a:xfrm>
            <a:off x="2225476" y="3821628"/>
            <a:ext cx="1921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7" name="流程图: 接点 56">
            <a:extLst>
              <a:ext uri="{FF2B5EF4-FFF2-40B4-BE49-F238E27FC236}">
                <a16:creationId xmlns:a16="http://schemas.microsoft.com/office/drawing/2014/main" id="{3C520E45-D618-308C-9A63-DFF6F0C349F4}"/>
              </a:ext>
            </a:extLst>
          </p:cNvPr>
          <p:cNvSpPr/>
          <p:nvPr/>
        </p:nvSpPr>
        <p:spPr>
          <a:xfrm>
            <a:off x="2225476" y="3854979"/>
            <a:ext cx="274251" cy="249964"/>
          </a:xfrm>
          <a:prstGeom prst="flowChartConnector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904EE197-07C8-FF5E-525B-3DB8F2B31E5F}"/>
              </a:ext>
            </a:extLst>
          </p:cNvPr>
          <p:cNvSpPr txBox="1"/>
          <p:nvPr/>
        </p:nvSpPr>
        <p:spPr>
          <a:xfrm>
            <a:off x="2976680" y="4096054"/>
            <a:ext cx="1921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9" name="流程图: 接点 58">
            <a:extLst>
              <a:ext uri="{FF2B5EF4-FFF2-40B4-BE49-F238E27FC236}">
                <a16:creationId xmlns:a16="http://schemas.microsoft.com/office/drawing/2014/main" id="{E915AC5B-9AC4-B051-E8FB-94E778D5763F}"/>
              </a:ext>
            </a:extLst>
          </p:cNvPr>
          <p:cNvSpPr/>
          <p:nvPr/>
        </p:nvSpPr>
        <p:spPr>
          <a:xfrm>
            <a:off x="2976680" y="4129405"/>
            <a:ext cx="274251" cy="249964"/>
          </a:xfrm>
          <a:prstGeom prst="flowChartConnector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3CADF16B-B672-5656-5ABB-42F6610864DD}"/>
              </a:ext>
            </a:extLst>
          </p:cNvPr>
          <p:cNvCxnSpPr/>
          <p:nvPr/>
        </p:nvCxnSpPr>
        <p:spPr>
          <a:xfrm>
            <a:off x="1302375" y="3216658"/>
            <a:ext cx="274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889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0" y="1778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0" i="0" u="none" strike="noStrike" spc="200" dirty="0" err="1">
                <a:solidFill>
                  <a:srgbClr val="00B050"/>
                </a:solidFill>
                <a:latin typeface="Wide Latin" panose="020A0A07050505020404" pitchFamily="18" charset="0"/>
                <a:ea typeface="Artifakt Element Heavy" panose="020B0B03050000020004" pitchFamily="34" charset="0"/>
                <a:cs typeface="Noto Sans SC"/>
                <a:sym typeface="Noto Sans SC"/>
              </a:rPr>
              <a:t>专业智能执行机构解决方案服务商</a:t>
            </a:r>
            <a:endParaRPr lang="en-US" sz="3600" dirty="0">
              <a:solidFill>
                <a:srgbClr val="00B050"/>
              </a:solidFill>
              <a:latin typeface="Wide Latin" panose="020A0A07050505020404" pitchFamily="18" charset="0"/>
              <a:ea typeface="Artifakt Element Heavy" panose="020B0B03050000020004" pitchFamily="34" charset="0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08000" y="2794000"/>
            <a:ext cx="5334000" cy="2413000"/>
          </a:xfrm>
          <a:prstGeom prst="roundRect">
            <a:avLst>
              <a:gd name="adj" fmla="val 6315"/>
            </a:avLst>
          </a:prstGeom>
          <a:solidFill>
            <a:srgbClr val="1F2937">
              <a:alpha val="92000"/>
            </a:srgbClr>
          </a:solidFill>
          <a:ln w="12700" cap="flat" cmpd="sng">
            <a:solidFill>
              <a:srgbClr val="60A5FA">
                <a:alpha val="3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3048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温州瑞基测控设备有限公司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36830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143000" y="36830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 dirty="0" err="1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地址</a:t>
            </a:r>
            <a:r>
              <a:rPr lang="en-US" sz="12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altLang="zh-CN" sz="1200" b="0" i="0" u="none" strike="noStrike" dirty="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浙江省温州市炬光园中路128号1号楼</a:t>
            </a:r>
            <a:endParaRPr lang="en-US" sz="1100" dirty="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44450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143000" y="44450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电话：0577-88623428 / 88623438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0" y="2794000"/>
            <a:ext cx="5334000" cy="2413000"/>
          </a:xfrm>
          <a:prstGeom prst="roundRect">
            <a:avLst>
              <a:gd name="adj" fmla="val 6315"/>
            </a:avLst>
          </a:prstGeom>
          <a:solidFill>
            <a:srgbClr val="1F2937">
              <a:alpha val="92000"/>
            </a:srgbClr>
          </a:solidFill>
          <a:ln w="12700" cap="flat" cmpd="sng">
            <a:solidFill>
              <a:srgbClr val="60A5FA">
                <a:alpha val="3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604000" y="3048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上海瑞基瑞然自动化技术有限公司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3683000"/>
            <a:ext cx="254000" cy="254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985000" y="36830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地址：上海市沪杭公路755号11幢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43180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85000" y="4318000"/>
            <a:ext cx="444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官网：www.raga.com.cn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4826000"/>
            <a:ext cx="254000" cy="254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4826000"/>
            <a:ext cx="444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邮箱：raga@raga.com.cn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3392</TotalTime>
  <Words>2522</Words>
  <Application>Microsoft Office PowerPoint</Application>
  <PresentationFormat>宽屏</PresentationFormat>
  <Paragraphs>487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1" baseType="lpstr">
      <vt:lpstr>Noto Sans SC</vt:lpstr>
      <vt:lpstr>宋体</vt:lpstr>
      <vt:lpstr>Arial</vt:lpstr>
      <vt:lpstr>Wide Latin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fulon</dc:creator>
  <cp:lastModifiedBy>fulong16@163.com</cp:lastModifiedBy>
  <cp:revision>15</cp:revision>
  <dcterms:modified xsi:type="dcterms:W3CDTF">2026-05-16T08:59:48Z</dcterms:modified>
</cp:coreProperties>
</file>